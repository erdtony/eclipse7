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3" r:id="rId1"/>
  </p:sldMasterIdLst>
  <p:notesMasterIdLst>
    <p:notesMasterId r:id="rId25"/>
  </p:notesMasterIdLst>
  <p:sldIdLst>
    <p:sldId id="384" r:id="rId2"/>
    <p:sldId id="367" r:id="rId3"/>
    <p:sldId id="449" r:id="rId4"/>
    <p:sldId id="357" r:id="rId5"/>
    <p:sldId id="452" r:id="rId6"/>
    <p:sldId id="370" r:id="rId7"/>
    <p:sldId id="365" r:id="rId8"/>
    <p:sldId id="371" r:id="rId9"/>
    <p:sldId id="339" r:id="rId10"/>
    <p:sldId id="372" r:id="rId11"/>
    <p:sldId id="338" r:id="rId12"/>
    <p:sldId id="451" r:id="rId13"/>
    <p:sldId id="344" r:id="rId14"/>
    <p:sldId id="270" r:id="rId15"/>
    <p:sldId id="335" r:id="rId16"/>
    <p:sldId id="348" r:id="rId17"/>
    <p:sldId id="349" r:id="rId18"/>
    <p:sldId id="381" r:id="rId19"/>
    <p:sldId id="402" r:id="rId20"/>
    <p:sldId id="376" r:id="rId21"/>
    <p:sldId id="377" r:id="rId22"/>
    <p:sldId id="378" r:id="rId23"/>
    <p:sldId id="450" r:id="rId24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ey" initials="C" lastIdx="10" clrIdx="0">
    <p:extLst>
      <p:ext uri="{19B8F6BF-5375-455C-9EA6-DF929625EA0E}">
        <p15:presenceInfo xmlns:p15="http://schemas.microsoft.com/office/powerpoint/2012/main" userId="Charl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00"/>
    <a:srgbClr val="54ACAC"/>
    <a:srgbClr val="FFE989"/>
    <a:srgbClr val="FF66CC"/>
    <a:srgbClr val="00CC00"/>
    <a:srgbClr val="A81C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6" autoAdjust="0"/>
    <p:restoredTop sz="96751" autoAdjust="0"/>
  </p:normalViewPr>
  <p:slideViewPr>
    <p:cSldViewPr snapToGrid="0" showGuides="1">
      <p:cViewPr varScale="1">
        <p:scale>
          <a:sx n="81" d="100"/>
          <a:sy n="81" d="100"/>
        </p:scale>
        <p:origin x="13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58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45" cy="465743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734" y="0"/>
            <a:ext cx="3038145" cy="465743"/>
          </a:xfrm>
          <a:prstGeom prst="rect">
            <a:avLst/>
          </a:prstGeom>
        </p:spPr>
        <p:txBody>
          <a:bodyPr vert="horz" lIns="88139" tIns="44070" rIns="88139" bIns="44070" rtlCol="0"/>
          <a:lstStyle>
            <a:lvl1pPr algn="r">
              <a:defRPr sz="1200"/>
            </a:lvl1pPr>
          </a:lstStyle>
          <a:p>
            <a:fld id="{EB011200-A950-4D2C-88C3-01F45274BA5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39" tIns="44070" rIns="88139" bIns="4407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345" y="4474508"/>
            <a:ext cx="5607711" cy="3659842"/>
          </a:xfrm>
          <a:prstGeom prst="rect">
            <a:avLst/>
          </a:prstGeom>
        </p:spPr>
        <p:txBody>
          <a:bodyPr vert="horz" lIns="88139" tIns="44070" rIns="88139" bIns="4407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0658"/>
            <a:ext cx="3038145" cy="465742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734" y="8830658"/>
            <a:ext cx="3038145" cy="465742"/>
          </a:xfrm>
          <a:prstGeom prst="rect">
            <a:avLst/>
          </a:prstGeom>
        </p:spPr>
        <p:txBody>
          <a:bodyPr vert="horz" lIns="88139" tIns="44070" rIns="88139" bIns="44070" rtlCol="0" anchor="b"/>
          <a:lstStyle>
            <a:lvl1pPr algn="r">
              <a:defRPr sz="1200"/>
            </a:lvl1pPr>
          </a:lstStyle>
          <a:p>
            <a:fld id="{FD45B424-F690-4CA9-9472-E105B18E3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3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83382-B500-4AD8-9F56-379E73017A14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765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9D83E-89D6-48E2-AEB0-CC087838CA2C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41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0E01-1548-40CB-84A1-7C99CAF0AB14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238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0E5A-1D8A-BF4B-EA5A-540E0B76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3EA17-7A68-2BF2-4E18-A2B67AB7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B993-2D8B-43D9-9BA2-F4069740394F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3A8F0-C895-2021-72BC-8DBD789B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B07C8-0FB8-6755-670F-24BFBAE4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35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8DBE7-CA98-42C8-8DF0-6168321810C5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36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898D-627A-4269-9C8F-75A35FFDB13B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71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A9D72-21B1-4ED1-AAAC-A8196FDC5E42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8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5F6B-AB76-47E1-B162-B8E685A91305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295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827BF-2CDA-4662-8F3D-513863C93F33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6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F878B32-608A-4C0A-AFDA-5EBD717535F0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7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94F6-8309-42E4-9450-2165C647FB21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688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B94B-D711-4A96-B01A-C4D4AFA3C14C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396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2697-3CA9-4601-874E-FD9D81A84334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567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D126-6E0B-48B0-847D-030194F1D3DE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766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0343-B707-49E5-8FF1-68850D5AB965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18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EF224-DDCB-4EAD-A233-4DF09C4D0CD7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662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9680-44E8-4504-8ABB-4F2035897C1D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758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68FE-4E09-4ECD-B5DC-03941E07956A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390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23DB993-2D8B-43D9-9BA2-F4069740394F}" type="datetime1">
              <a:rPr lang="en-US" smtClean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065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71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A515D4-3D0B-4F55-901C-EA76B96D4C72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F72A1-E7FA-4081-B3B5-07F472DB9ABD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AE167-7472-4597-964F-7C54A971F054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F695C-B843-4FD2-82C2-F1D2C7722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5806" y="3091018"/>
            <a:ext cx="3820610" cy="158772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3600" b="1" cap="small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n-lt"/>
                <a:ea typeface="+mn-ea"/>
                <a:cs typeface="+mn-cs"/>
              </a:rPr>
              <a:t>2025 Product</a:t>
            </a:r>
            <a:br>
              <a:rPr lang="en-US" sz="3600" b="1" cap="small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n-lt"/>
                <a:ea typeface="+mn-ea"/>
                <a:cs typeface="+mn-cs"/>
              </a:rPr>
            </a:br>
            <a:r>
              <a:rPr lang="en-US" sz="3600" b="1" cap="small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n-lt"/>
                <a:ea typeface="+mn-ea"/>
                <a:cs typeface="+mn-cs"/>
              </a:rPr>
              <a:t>Offerings</a:t>
            </a:r>
            <a:br>
              <a:rPr lang="en-US" sz="3600" b="1" cap="small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n-lt"/>
                <a:ea typeface="+mn-ea"/>
                <a:cs typeface="+mn-cs"/>
              </a:rPr>
            </a:br>
            <a:br>
              <a:rPr lang="en-US" sz="3600" b="1" cap="small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+mn-lt"/>
                <a:ea typeface="+mn-ea"/>
                <a:cs typeface="+mn-cs"/>
              </a:rPr>
            </a:br>
            <a:br>
              <a:rPr lang="en-US" sz="2800" b="1" dirty="0">
                <a:solidFill>
                  <a:schemeClr val="tx1"/>
                </a:solidFill>
              </a:rPr>
            </a:br>
            <a:endParaRPr lang="en-US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DA458E-8E26-4EC7-AA12-C960C08CD256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8F5A3D22-7302-4B64-8BC5-CEB047C33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3CF7485-4A07-4BFC-91DF-58CA75297F32}"/>
              </a:ext>
            </a:extLst>
          </p:cNvPr>
          <p:cNvSpPr txBox="1">
            <a:spLocks/>
          </p:cNvSpPr>
          <p:nvPr/>
        </p:nvSpPr>
        <p:spPr>
          <a:xfrm>
            <a:off x="6495901" y="2491339"/>
            <a:ext cx="5237550" cy="4596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>
              <a:spcBef>
                <a:spcPts val="600"/>
              </a:spcBef>
            </a:pPr>
            <a:r>
              <a:rPr lang="en-US" sz="2000" b="1" i="1" cap="none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Eclipse Identity Recognition Corporation</a:t>
            </a:r>
          </a:p>
          <a:p>
            <a:pPr algn="r">
              <a:spcBef>
                <a:spcPts val="600"/>
              </a:spcBef>
            </a:pP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7CE9C-1F47-458F-A400-CC22E6336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5" y="1301302"/>
            <a:ext cx="5916840" cy="4501546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outerShdw blurRad="279400" dist="203200" dir="3960000" sx="78000" sy="78000" algn="t" rotWithShape="0">
              <a:prstClr val="black"/>
            </a:outerShdw>
          </a:effectLst>
        </p:spPr>
      </p:pic>
      <p:pic>
        <p:nvPicPr>
          <p:cNvPr id="2050" name="Picture 2" descr="Related image">
            <a:extLst>
              <a:ext uri="{FF2B5EF4-FFF2-40B4-BE49-F238E27FC236}">
                <a16:creationId xmlns:a16="http://schemas.microsoft.com/office/drawing/2014/main" id="{0F8BCDA6-B20A-4A83-86FC-2AD942F29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87" y="5309067"/>
            <a:ext cx="1372238" cy="913882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outerShdw blurRad="279400" dist="203200" dir="3960000" sx="78000" sy="78000" algn="t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lated image">
            <a:extLst>
              <a:ext uri="{FF2B5EF4-FFF2-40B4-BE49-F238E27FC236}">
                <a16:creationId xmlns:a16="http://schemas.microsoft.com/office/drawing/2014/main" id="{E59177C9-EBD1-421E-BD80-E2DC3CC38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978" y="5309067"/>
            <a:ext cx="1487202" cy="913882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outerShdw blurRad="279400" dist="203200" dir="3960000" sx="78000" sy="78000" algn="t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F5657F47-7263-4313-8C42-7B45FD373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494" y="5317029"/>
            <a:ext cx="1276189" cy="897958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outerShdw blurRad="279400" dist="203200" dir="3960000" sx="78000" sy="78000" algn="t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87DB7F-BCF8-47E7-BA3D-72401099FD64}"/>
              </a:ext>
            </a:extLst>
          </p:cNvPr>
          <p:cNvSpPr/>
          <p:nvPr/>
        </p:nvSpPr>
        <p:spPr>
          <a:xfrm>
            <a:off x="2045541" y="3428999"/>
            <a:ext cx="889416" cy="8617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BCBD28-0E5F-C215-BBA0-B50BB877C8B0}"/>
              </a:ext>
            </a:extLst>
          </p:cNvPr>
          <p:cNvSpPr txBox="1">
            <a:spLocks/>
          </p:cNvSpPr>
          <p:nvPr/>
        </p:nvSpPr>
        <p:spPr>
          <a:xfrm>
            <a:off x="6495901" y="5096821"/>
            <a:ext cx="5237550" cy="4596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000" b="1" i="1" cap="none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Stephen D. Miller, CEO</a:t>
            </a:r>
          </a:p>
          <a:p>
            <a:pPr algn="r">
              <a:spcBef>
                <a:spcPts val="600"/>
              </a:spcBef>
            </a:pPr>
            <a:endParaRPr lang="en-US" sz="2800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EBFD866E-F25A-4F62-8F91-3C59CE9E2142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76D16D-4EB9-E729-CEC0-8F84A41F0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3299" y="1658183"/>
            <a:ext cx="525014" cy="3599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1D1F4B-8144-6566-EBE6-D726A59077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2511" y="1621519"/>
            <a:ext cx="622606" cy="4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8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12"/>
    </mc:Choice>
    <mc:Fallback xmlns="">
      <p:transition spd="slow" advTm="1771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ED65DB48-2F5B-42E4-A177-E3B99666A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4B78DD-4515-4BCC-A3CA-D3FAD3D3A968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F80E6C05-9B21-42EA-975B-3C5F6FBCAC84}"/>
              </a:ext>
            </a:extLst>
          </p:cNvPr>
          <p:cNvSpPr txBox="1">
            <a:spLocks/>
          </p:cNvSpPr>
          <p:nvPr/>
        </p:nvSpPr>
        <p:spPr>
          <a:xfrm>
            <a:off x="4631707" y="432742"/>
            <a:ext cx="5769593" cy="669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4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8E3F0C-5F38-4119-B496-ED54496C68DE}"/>
              </a:ext>
            </a:extLst>
          </p:cNvPr>
          <p:cNvCxnSpPr>
            <a:cxnSpLocks/>
          </p:cNvCxnSpPr>
          <p:nvPr/>
        </p:nvCxnSpPr>
        <p:spPr>
          <a:xfrm>
            <a:off x="3872285" y="3429000"/>
            <a:ext cx="341906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286BE34-30B9-4E6C-BFEA-AE9207C5640C}"/>
              </a:ext>
            </a:extLst>
          </p:cNvPr>
          <p:cNvSpPr/>
          <p:nvPr/>
        </p:nvSpPr>
        <p:spPr>
          <a:xfrm>
            <a:off x="12938" y="3740976"/>
            <a:ext cx="11216922" cy="213904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marL="0" lvl="2" algn="ctr">
              <a:defRPr sz="3600"/>
            </a:pPr>
            <a:r>
              <a:rPr lang="en-US" sz="4000" dirty="0">
                <a:solidFill>
                  <a:srgbClr val="FFC000"/>
                </a:solidFill>
              </a:rPr>
              <a:t>Intelligent Access Control Management</a:t>
            </a:r>
          </a:p>
          <a:p>
            <a:pPr marL="0" lvl="2" algn="ctr">
              <a:defRPr sz="3600"/>
            </a:pPr>
            <a:r>
              <a:rPr lang="en-US" sz="4000" dirty="0">
                <a:solidFill>
                  <a:srgbClr val="FFC000"/>
                </a:solidFill>
              </a:rPr>
              <a:t>Facial Recognition and Physical Access Management</a:t>
            </a:r>
          </a:p>
          <a:p>
            <a:pPr marL="0" lvl="2" algn="ctr">
              <a:spcAft>
                <a:spcPts val="600"/>
              </a:spcAft>
              <a:defRPr sz="3600"/>
            </a:pPr>
            <a:r>
              <a:rPr lang="en-US" sz="2400" dirty="0">
                <a:solidFill>
                  <a:srgbClr val="FFC000"/>
                </a:solidFill>
              </a:rPr>
              <a:t>Our core technology detects faces from video streams </a:t>
            </a:r>
          </a:p>
          <a:p>
            <a:pPr marL="0" lvl="2" algn="ctr">
              <a:spcAft>
                <a:spcPts val="600"/>
              </a:spcAft>
              <a:defRPr sz="3600"/>
            </a:pPr>
            <a:r>
              <a:rPr lang="en-US" sz="2400" dirty="0">
                <a:solidFill>
                  <a:srgbClr val="FFC000"/>
                </a:solidFill>
              </a:rPr>
              <a:t>and compares to databases and manages door controllers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83711A-5CA5-4604-81F1-F33DB0F65DAD}"/>
              </a:ext>
            </a:extLst>
          </p:cNvPr>
          <p:cNvCxnSpPr>
            <a:cxnSpLocks/>
          </p:cNvCxnSpPr>
          <p:nvPr/>
        </p:nvCxnSpPr>
        <p:spPr>
          <a:xfrm>
            <a:off x="1327235" y="2025967"/>
            <a:ext cx="7881642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6FC896A-8779-4F66-8C80-4F0B50B90D7B}"/>
              </a:ext>
            </a:extLst>
          </p:cNvPr>
          <p:cNvCxnSpPr>
            <a:cxnSpLocks/>
          </p:cNvCxnSpPr>
          <p:nvPr/>
        </p:nvCxnSpPr>
        <p:spPr>
          <a:xfrm>
            <a:off x="3872285" y="6099915"/>
            <a:ext cx="3644218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366786FF-CF3E-4F6F-AAB7-BCDE61DACDF1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A8EA9-FB65-FD8A-FBB9-E19069768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066" y="1506837"/>
            <a:ext cx="4675497" cy="161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00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0FEBA3C5-9D61-4636-863B-5044B823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441C61-7D98-4138-9500-2C3DE4FF3B47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D13BA6E5-06BC-4AAC-B59B-C93127AF9678}"/>
              </a:ext>
            </a:extLst>
          </p:cNvPr>
          <p:cNvSpPr txBox="1">
            <a:spLocks/>
          </p:cNvSpPr>
          <p:nvPr/>
        </p:nvSpPr>
        <p:spPr>
          <a:xfrm>
            <a:off x="4558169" y="357625"/>
            <a:ext cx="5800076" cy="669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Technology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B90A01-6983-4B2C-BEA1-32433073640B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CCBA2F-C8A8-4C3D-B449-2ACE695FFCC5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A65354-E3AD-4957-8A8A-603E939C7456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249B3F6B-1DF4-49EB-922F-8E5E1F8EA217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9CFB7A-E966-0DF1-1074-8F62A4593CDF}"/>
              </a:ext>
            </a:extLst>
          </p:cNvPr>
          <p:cNvSpPr/>
          <p:nvPr/>
        </p:nvSpPr>
        <p:spPr>
          <a:xfrm>
            <a:off x="2267059" y="1198174"/>
            <a:ext cx="7287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2000" b="1" i="1" dirty="0"/>
              <a:t>Facial </a:t>
            </a:r>
            <a:r>
              <a:rPr lang="en-US" altLang="ja-JP" sz="2000" kern="50" dirty="0">
                <a:latin typeface="+mj-lt"/>
                <a:ea typeface="Arial Unicode MS" panose="020B0604020202020204" pitchFamily="34" charset="-128"/>
              </a:rPr>
              <a:t>Recognition</a:t>
            </a:r>
            <a:r>
              <a:rPr lang="en-US" altLang="ja-JP" sz="2000" b="1" i="1" dirty="0"/>
              <a:t> in the World of Security and Law Enforcement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89692AF-B64F-5C6C-6893-11C963E61D1B}"/>
              </a:ext>
            </a:extLst>
          </p:cNvPr>
          <p:cNvSpPr txBox="1">
            <a:spLocks/>
          </p:cNvSpPr>
          <p:nvPr/>
        </p:nvSpPr>
        <p:spPr>
          <a:xfrm>
            <a:off x="3924300" y="1544357"/>
            <a:ext cx="4343400" cy="512762"/>
          </a:xfrm>
          <a:prstGeom prst="rect">
            <a:avLst/>
          </a:prstGeom>
        </p:spPr>
        <p:txBody>
          <a:bodyPr anchor="ctr"/>
          <a:lstStyle>
            <a:lvl1pPr marL="306000" indent="-3060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buNone/>
              <a:defRPr/>
            </a:pPr>
            <a:r>
              <a:rPr lang="en-US" sz="2400" b="1" dirty="0">
                <a:solidFill>
                  <a:srgbClr val="FFC000"/>
                </a:solidFill>
                <a:latin typeface="+mj-lt"/>
              </a:rPr>
              <a:t>Real “imperfect” world</a:t>
            </a:r>
            <a:endParaRPr lang="he-IL" sz="2400" b="1" dirty="0">
              <a:solidFill>
                <a:srgbClr val="FFC000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B19DC8-D4CD-7686-31AB-853A21EC78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6" t="3146" r="894" b="1800"/>
          <a:stretch/>
        </p:blipFill>
        <p:spPr>
          <a:xfrm>
            <a:off x="7458207" y="2388210"/>
            <a:ext cx="2565400" cy="946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FFFFFF">
                <a:alpha val="84706"/>
              </a:srgbClr>
            </a:solidFill>
            <a:prstDash val="solid"/>
          </a:ln>
          <a:effectLst>
            <a:outerShdw blurRad="190500" dist="101600" dir="3360000" sx="104000" sy="104000" algn="tl" rotWithShape="0">
              <a:prstClr val="black">
                <a:alpha val="56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A29CD9-691A-2B96-E664-7345A5073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922" y="2369168"/>
            <a:ext cx="2427288" cy="8556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FFFFFF">
                <a:alpha val="84706"/>
              </a:srgbClr>
            </a:solidFill>
            <a:prstDash val="solid"/>
          </a:ln>
          <a:effectLst>
            <a:outerShdw blurRad="190500" dist="101600" dir="3360000" sx="104000" sy="104000" algn="tl" rotWithShape="0">
              <a:prstClr val="black">
                <a:alpha val="56000"/>
              </a:prstClr>
            </a:outerShdw>
          </a:effectLst>
        </p:spPr>
      </p:pic>
      <p:sp>
        <p:nvSpPr>
          <p:cNvPr id="16" name="Rectangle 7">
            <a:extLst>
              <a:ext uri="{FF2B5EF4-FFF2-40B4-BE49-F238E27FC236}">
                <a16:creationId xmlns:a16="http://schemas.microsoft.com/office/drawing/2014/main" id="{017C63D7-EA48-7626-1FEE-AB11579A9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37" y="3321971"/>
            <a:ext cx="3001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00000"/>
              <a:buFont typeface="Wingdings 2" panose="05020102010507070707" pitchFamily="18" charset="2"/>
              <a:buChar char=""/>
              <a:defRPr sz="2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§"/>
              <a:defRPr sz="2200"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SzPct val="75000"/>
              <a:buFont typeface="Wingdings 2" panose="05020102010507070707" pitchFamily="18" charset="2"/>
              <a:buChar char=""/>
              <a:defRPr sz="1600"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000"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dirty="0">
                <a:latin typeface="Georgia" panose="02040502050405020303" pitchFamily="18" charset="0"/>
                <a:ea typeface="Arial Unicode MS" pitchFamily="34" charset="-128"/>
              </a:rPr>
              <a:t>Difficult lighting, shadows, movement, skin tone….</a:t>
            </a:r>
            <a:endParaRPr lang="he-IL" altLang="en-US" sz="1800" b="0" dirty="0">
              <a:latin typeface="Georgia" panose="02040502050405020303" pitchFamily="18" charset="0"/>
              <a:ea typeface="Arial Unicode MS" pitchFamily="34" charset="-128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F98DC82D-E547-1267-BA17-EE1D4E4C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2593" y="3443950"/>
            <a:ext cx="27807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SzPct val="100000"/>
              <a:buFont typeface="Wingdings 2" panose="05020102010507070707" pitchFamily="18" charset="2"/>
              <a:buChar char=""/>
              <a:defRPr sz="2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§"/>
              <a:defRPr sz="2200"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SzPct val="75000"/>
              <a:buFont typeface="Wingdings 2" panose="05020102010507070707" pitchFamily="18" charset="2"/>
              <a:buChar char=""/>
              <a:defRPr sz="1600"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000"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>
                <a:solidFill>
                  <a:srgbClr val="FFFFFF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dirty="0">
                <a:latin typeface="Georgia" panose="02040502050405020303" pitchFamily="18" charset="0"/>
                <a:ea typeface="Arial Unicode MS" pitchFamily="34" charset="-128"/>
              </a:rPr>
              <a:t>Difficult face angles </a:t>
            </a:r>
            <a:endParaRPr lang="he-IL" altLang="en-US" sz="1800" b="0" dirty="0">
              <a:latin typeface="Georgia" panose="02040502050405020303" pitchFamily="18" charset="0"/>
              <a:ea typeface="Arial Unicode MS" pitchFamily="34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EA9E3B-789C-D5E1-72CF-191E6EA10517}"/>
              </a:ext>
            </a:extLst>
          </p:cNvPr>
          <p:cNvSpPr/>
          <p:nvPr/>
        </p:nvSpPr>
        <p:spPr>
          <a:xfrm>
            <a:off x="5322137" y="5739359"/>
            <a:ext cx="16764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kern="50" dirty="0">
                <a:latin typeface="+mj-lt"/>
                <a:ea typeface="Arial Unicode MS" panose="020B0604020202020204" pitchFamily="34" charset="-128"/>
              </a:rPr>
              <a:t>Multiple faces in a crowd</a:t>
            </a:r>
            <a:endParaRPr lang="he-IL" dirty="0">
              <a:latin typeface="+mj-lt"/>
            </a:endParaRPr>
          </a:p>
        </p:txBody>
      </p:sp>
      <p:pic>
        <p:nvPicPr>
          <p:cNvPr id="21" name="Picture 20" descr="Crowd.jpg">
            <a:extLst>
              <a:ext uri="{FF2B5EF4-FFF2-40B4-BE49-F238E27FC236}">
                <a16:creationId xmlns:a16="http://schemas.microsoft.com/office/drawing/2014/main" id="{021BCF35-1DE3-616B-DC44-95B64DDE2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280" y="4127045"/>
            <a:ext cx="2170113" cy="14414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FFFFFF">
                <a:alpha val="84706"/>
              </a:srgbClr>
            </a:solidFill>
            <a:prstDash val="solid"/>
          </a:ln>
          <a:effectLst>
            <a:outerShdw blurRad="190500" dist="101600" dir="3360000" sx="104000" sy="104000" algn="tl" rotWithShape="0">
              <a:prstClr val="black">
                <a:alpha val="5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97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3013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53D0B205-722B-45E6-BB2F-681F8BF2D0D9}"/>
              </a:ext>
            </a:extLst>
          </p:cNvPr>
          <p:cNvSpPr txBox="1">
            <a:spLocks/>
          </p:cNvSpPr>
          <p:nvPr/>
        </p:nvSpPr>
        <p:spPr>
          <a:xfrm>
            <a:off x="3686175" y="240913"/>
            <a:ext cx="7139607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Facial Recognition Product Applications</a:t>
            </a:r>
            <a:endParaRPr lang="en-US" sz="2800" b="1" i="1" cap="none" dirty="0">
              <a:solidFill>
                <a:schemeClr val="tx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6" name="Picture 25" descr="A picture containing drawing&#10;&#10;Description automatically generated">
            <a:extLst>
              <a:ext uri="{FF2B5EF4-FFF2-40B4-BE49-F238E27FC236}">
                <a16:creationId xmlns:a16="http://schemas.microsoft.com/office/drawing/2014/main" id="{BB29727E-C93B-4DC7-9481-1797ACAF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77C8F1B-799B-4E32-A23B-00D963573055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129D4E-54F5-42CB-B747-D8D98472D221}"/>
              </a:ext>
            </a:extLst>
          </p:cNvPr>
          <p:cNvCxnSpPr>
            <a:cxnSpLocks/>
          </p:cNvCxnSpPr>
          <p:nvPr/>
        </p:nvCxnSpPr>
        <p:spPr>
          <a:xfrm>
            <a:off x="571500" y="2983947"/>
            <a:ext cx="11049000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C677520-CADD-4B6D-AA57-EE80DEAB2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8" y="2067015"/>
            <a:ext cx="2143125" cy="142875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342900" dist="279400" dir="3960000" algn="t" rotWithShape="0">
              <a:prstClr val="black"/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1FE1923-D083-45DA-96C4-A7EFF4980DD4}"/>
              </a:ext>
            </a:extLst>
          </p:cNvPr>
          <p:cNvSpPr txBox="1"/>
          <p:nvPr/>
        </p:nvSpPr>
        <p:spPr>
          <a:xfrm>
            <a:off x="9100146" y="3495765"/>
            <a:ext cx="242411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/>
          </a:p>
          <a:p>
            <a:pPr algn="ctr"/>
            <a:r>
              <a:rPr lang="en-US" sz="1600" b="1" dirty="0">
                <a:solidFill>
                  <a:srgbClr val="FFCC00"/>
                </a:solidFill>
                <a:latin typeface="+mj-lt"/>
              </a:rPr>
              <a:t>SearchP</a:t>
            </a:r>
            <a:r>
              <a:rPr lang="en-US" sz="1600" dirty="0">
                <a:solidFill>
                  <a:srgbClr val="FFCC00"/>
                </a:solidFill>
                <a:latin typeface="+mj-lt"/>
              </a:rPr>
              <a:t>oint</a:t>
            </a:r>
            <a:r>
              <a:rPr lang="en-US" sz="1600" dirty="0">
                <a:latin typeface="+mj-lt"/>
              </a:rPr>
              <a:t> </a:t>
            </a:r>
          </a:p>
          <a:p>
            <a:pPr algn="ctr"/>
            <a:endParaRPr lang="en-US" sz="1600" dirty="0">
              <a:latin typeface="+mj-lt"/>
            </a:endParaRP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Investigative Analysis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Corporate and Government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Stored and recorded video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Image Enhancement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Auto Analysis of stored video.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BC7A5D-815D-4D16-98C2-12F79D000669}"/>
              </a:ext>
            </a:extLst>
          </p:cNvPr>
          <p:cNvSpPr/>
          <p:nvPr/>
        </p:nvSpPr>
        <p:spPr>
          <a:xfrm>
            <a:off x="742043" y="1278570"/>
            <a:ext cx="10707914" cy="470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800"/>
              </a:spcAft>
              <a:buClr>
                <a:srgbClr val="FFC000"/>
              </a:buClr>
            </a:pPr>
            <a:r>
              <a:rPr lang="en-US" sz="2400" b="1" i="1" dirty="0">
                <a:solidFill>
                  <a:srgbClr val="FFCC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Advanced facial recognition products with market focus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0639CB9-5AD6-4739-885D-EBF44BD2EFCF}"/>
              </a:ext>
            </a:extLst>
          </p:cNvPr>
          <p:cNvGrpSpPr/>
          <p:nvPr/>
        </p:nvGrpSpPr>
        <p:grpSpPr>
          <a:xfrm>
            <a:off x="6334252" y="2067015"/>
            <a:ext cx="2424113" cy="4364759"/>
            <a:chOff x="782525" y="2039495"/>
            <a:chExt cx="2424113" cy="436475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B003508-5435-4543-A283-2C37FB7BE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537" y="2039495"/>
              <a:ext cx="2200275" cy="1428750"/>
            </a:xfrm>
            <a:prstGeom prst="rect">
              <a:avLst/>
            </a:prstGeom>
            <a:ln w="12700">
              <a:solidFill>
                <a:schemeClr val="tx1"/>
              </a:solidFill>
            </a:ln>
            <a:effectLst>
              <a:outerShdw blurRad="342900" dist="279400" dir="3960000" algn="t" rotWithShape="0">
                <a:prstClr val="black"/>
              </a:outerShd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5DAFA3-69D3-451A-80D9-A16A586E4C7E}"/>
                </a:ext>
              </a:extLst>
            </p:cNvPr>
            <p:cNvSpPr txBox="1"/>
            <p:nvPr/>
          </p:nvSpPr>
          <p:spPr>
            <a:xfrm>
              <a:off x="782525" y="3495765"/>
              <a:ext cx="2424113" cy="2908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dirty="0"/>
            </a:p>
            <a:p>
              <a:pPr algn="ctr"/>
              <a:r>
                <a:rPr lang="en-US" sz="1600" b="1" dirty="0">
                  <a:solidFill>
                    <a:srgbClr val="FFCC00"/>
                  </a:solidFill>
                  <a:latin typeface="+mj-lt"/>
                </a:rPr>
                <a:t>Match</a:t>
              </a:r>
              <a:r>
                <a:rPr lang="en-US" sz="1600" dirty="0">
                  <a:solidFill>
                    <a:srgbClr val="FFCC00"/>
                  </a:solidFill>
                  <a:latin typeface="+mj-lt"/>
                </a:rPr>
                <a:t>Point </a:t>
              </a:r>
              <a:r>
                <a:rPr lang="en-US" sz="1600" i="1" dirty="0">
                  <a:solidFill>
                    <a:srgbClr val="FFCC00"/>
                  </a:solidFill>
                  <a:latin typeface="+mj-lt"/>
                </a:rPr>
                <a:t>Commander</a:t>
              </a:r>
              <a:endParaRPr lang="en-US" sz="1600" dirty="0">
                <a:solidFill>
                  <a:srgbClr val="FFCC00"/>
                </a:solidFill>
                <a:latin typeface="+mj-lt"/>
              </a:endParaRPr>
            </a:p>
            <a:p>
              <a:pPr algn="ctr"/>
              <a:endParaRPr lang="en-US" sz="1600" dirty="0">
                <a:latin typeface="+mj-lt"/>
              </a:endParaRP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Live video monitoring 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Law Enforcement &amp; Commercial Security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Multi-channel monitoring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Enhanced communications and notifications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Large database size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Static/dynamic configurable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D81CD0-6606-4667-A61A-D445E13FA84A}"/>
                </a:ext>
              </a:extLst>
            </p:cNvPr>
            <p:cNvCxnSpPr/>
            <p:nvPr/>
          </p:nvCxnSpPr>
          <p:spPr>
            <a:xfrm>
              <a:off x="890630" y="3684070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258E88-835A-4A5A-BBC4-BBFE6D906940}"/>
                </a:ext>
              </a:extLst>
            </p:cNvPr>
            <p:cNvCxnSpPr/>
            <p:nvPr/>
          </p:nvCxnSpPr>
          <p:spPr>
            <a:xfrm>
              <a:off x="890630" y="4072235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7A854A9-2CC7-40AB-B9B1-B1FBF0586076}"/>
              </a:ext>
            </a:extLst>
          </p:cNvPr>
          <p:cNvGrpSpPr/>
          <p:nvPr/>
        </p:nvGrpSpPr>
        <p:grpSpPr>
          <a:xfrm>
            <a:off x="3628695" y="2039495"/>
            <a:ext cx="2405520" cy="4734090"/>
            <a:chOff x="3628695" y="2039495"/>
            <a:chExt cx="2405520" cy="47340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CE656B6-9207-451A-B567-438522854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8237" y="2039495"/>
              <a:ext cx="2143125" cy="1428750"/>
            </a:xfrm>
            <a:prstGeom prst="rect">
              <a:avLst/>
            </a:prstGeom>
            <a:ln w="12700">
              <a:solidFill>
                <a:schemeClr val="tx1"/>
              </a:solidFill>
            </a:ln>
            <a:effectLst>
              <a:outerShdw blurRad="342900" dist="279400" dir="3960000" algn="t" rotWithShape="0">
                <a:prstClr val="black"/>
              </a:outerShdw>
            </a:effec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37F1C6-1643-4307-8365-3259A3F4B7A3}"/>
                </a:ext>
              </a:extLst>
            </p:cNvPr>
            <p:cNvSpPr txBox="1"/>
            <p:nvPr/>
          </p:nvSpPr>
          <p:spPr>
            <a:xfrm>
              <a:off x="3628695" y="3495765"/>
              <a:ext cx="2405520" cy="3277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dirty="0"/>
            </a:p>
            <a:p>
              <a:pPr algn="ctr"/>
              <a:r>
                <a:rPr lang="en-US" sz="1600" b="1" dirty="0">
                  <a:solidFill>
                    <a:srgbClr val="FFCC00"/>
                  </a:solidFill>
                  <a:latin typeface="+mj-lt"/>
                </a:rPr>
                <a:t>Match</a:t>
              </a:r>
              <a:r>
                <a:rPr lang="en-US" sz="1600" dirty="0">
                  <a:solidFill>
                    <a:srgbClr val="FFCC00"/>
                  </a:solidFill>
                  <a:latin typeface="+mj-lt"/>
                </a:rPr>
                <a:t>Point</a:t>
              </a:r>
              <a:r>
                <a:rPr lang="en-US" sz="1600" b="1" dirty="0">
                  <a:solidFill>
                    <a:srgbClr val="FFCC00"/>
                  </a:solidFill>
                  <a:latin typeface="+mj-lt"/>
                </a:rPr>
                <a:t> </a:t>
              </a:r>
              <a:r>
                <a:rPr lang="en-US" sz="1600" b="1" i="1" dirty="0">
                  <a:solidFill>
                    <a:srgbClr val="FFCC00"/>
                  </a:solidFill>
                  <a:latin typeface="+mj-lt"/>
                </a:rPr>
                <a:t>6</a:t>
              </a:r>
              <a:r>
                <a:rPr lang="en-US" sz="1600" dirty="0">
                  <a:solidFill>
                    <a:srgbClr val="FFCC00"/>
                  </a:solidFill>
                  <a:latin typeface="+mj-lt"/>
                </a:rPr>
                <a:t> </a:t>
              </a:r>
            </a:p>
            <a:p>
              <a:pPr algn="ctr"/>
              <a:endParaRPr lang="en-US" sz="1600" dirty="0">
                <a:latin typeface="+mj-lt"/>
              </a:endParaRP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Live video monitoring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Corporate and      Commercial Security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Multi-channel monitoring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Increased database capacity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Extend VMS capabilities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Static/dynamic configurable</a:t>
              </a:r>
            </a:p>
            <a:p>
              <a:pPr>
                <a:spcAft>
                  <a:spcPts val="600"/>
                </a:spcAft>
              </a:pPr>
              <a:endParaRPr lang="en-US" sz="1400" dirty="0"/>
            </a:p>
            <a:p>
              <a:pPr marL="9144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1001049-257B-4398-BA43-D7D71457349B}"/>
                </a:ext>
              </a:extLst>
            </p:cNvPr>
            <p:cNvCxnSpPr/>
            <p:nvPr/>
          </p:nvCxnSpPr>
          <p:spPr>
            <a:xfrm>
              <a:off x="3686175" y="3684070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B0ABDB-8CED-41C0-91EC-90B676534DC2}"/>
                </a:ext>
              </a:extLst>
            </p:cNvPr>
            <p:cNvCxnSpPr/>
            <p:nvPr/>
          </p:nvCxnSpPr>
          <p:spPr>
            <a:xfrm>
              <a:off x="3686175" y="4072235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B7227DA-0F3B-4B68-92EA-869AAA0A589B}"/>
              </a:ext>
            </a:extLst>
          </p:cNvPr>
          <p:cNvGrpSpPr/>
          <p:nvPr/>
        </p:nvGrpSpPr>
        <p:grpSpPr>
          <a:xfrm>
            <a:off x="700017" y="2053311"/>
            <a:ext cx="2424113" cy="3933871"/>
            <a:chOff x="6341501" y="2039495"/>
            <a:chExt cx="2424113" cy="39338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E93049-8639-4FFA-8ECC-A9E19F23F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7787" y="2039495"/>
              <a:ext cx="2143125" cy="1428750"/>
            </a:xfrm>
            <a:prstGeom prst="rect">
              <a:avLst/>
            </a:prstGeom>
            <a:ln w="12700">
              <a:solidFill>
                <a:schemeClr val="tx1"/>
              </a:solidFill>
            </a:ln>
            <a:effectLst>
              <a:outerShdw blurRad="342900" dist="279400" dir="3960000" algn="t" rotWithShape="0">
                <a:prstClr val="black"/>
              </a:outerShdw>
            </a:effec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83AD29D-EAC9-4D06-B488-1A106E22D315}"/>
                </a:ext>
              </a:extLst>
            </p:cNvPr>
            <p:cNvSpPr txBox="1"/>
            <p:nvPr/>
          </p:nvSpPr>
          <p:spPr>
            <a:xfrm>
              <a:off x="6341501" y="3495765"/>
              <a:ext cx="2424113" cy="2477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dirty="0"/>
            </a:p>
            <a:p>
              <a:pPr algn="ctr"/>
              <a:r>
                <a:rPr lang="en-US" sz="1600" b="1" dirty="0">
                  <a:solidFill>
                    <a:srgbClr val="FFCC00"/>
                  </a:solidFill>
                  <a:latin typeface="+mj-lt"/>
                </a:rPr>
                <a:t>Match</a:t>
              </a:r>
              <a:r>
                <a:rPr lang="en-US" sz="1600" dirty="0">
                  <a:solidFill>
                    <a:srgbClr val="FFCC00"/>
                  </a:solidFill>
                  <a:latin typeface="+mj-lt"/>
                </a:rPr>
                <a:t>Point </a:t>
              </a:r>
              <a:r>
                <a:rPr lang="en-US" sz="1600" i="1" dirty="0">
                  <a:solidFill>
                    <a:srgbClr val="FFCC00"/>
                  </a:solidFill>
                  <a:latin typeface="+mj-lt"/>
                </a:rPr>
                <a:t>LITE</a:t>
              </a:r>
              <a:endParaRPr lang="en-US" sz="1600" dirty="0">
                <a:solidFill>
                  <a:srgbClr val="FFCC00"/>
                </a:solidFill>
                <a:latin typeface="+mj-lt"/>
              </a:endParaRPr>
            </a:p>
            <a:p>
              <a:pPr algn="ctr"/>
              <a:endParaRPr lang="en-US" sz="1600" dirty="0">
                <a:latin typeface="+mj-lt"/>
              </a:endParaRP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Live video monitoring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Small Business security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Turn-key single-channel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Rapid deployment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VMS capabilities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Static configurable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CAADA15-C8A2-4A25-B4E8-BEAA64BD56E7}"/>
                </a:ext>
              </a:extLst>
            </p:cNvPr>
            <p:cNvCxnSpPr/>
            <p:nvPr/>
          </p:nvCxnSpPr>
          <p:spPr>
            <a:xfrm>
              <a:off x="6427787" y="3684070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4B9BA78-4202-4079-9FF6-05F025989D03}"/>
                </a:ext>
              </a:extLst>
            </p:cNvPr>
            <p:cNvCxnSpPr/>
            <p:nvPr/>
          </p:nvCxnSpPr>
          <p:spPr>
            <a:xfrm>
              <a:off x="6427787" y="4072235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F045BCE-07B8-4C2A-8241-AD6450DAB9CD}"/>
              </a:ext>
            </a:extLst>
          </p:cNvPr>
          <p:cNvCxnSpPr/>
          <p:nvPr/>
        </p:nvCxnSpPr>
        <p:spPr>
          <a:xfrm>
            <a:off x="9177338" y="3684070"/>
            <a:ext cx="217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F5E096A-902E-4DA6-AA1C-8B782D40DBCE}"/>
              </a:ext>
            </a:extLst>
          </p:cNvPr>
          <p:cNvCxnSpPr/>
          <p:nvPr/>
        </p:nvCxnSpPr>
        <p:spPr>
          <a:xfrm>
            <a:off x="9177338" y="4072235"/>
            <a:ext cx="217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463A0E1D-9E12-4A3D-A324-A659C46A6ED0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4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92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53D68-961D-BCA8-CDC1-88DBE164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1B102906-9D78-555F-B602-C79E6C56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3360EB-AFD3-9CC8-FA08-EBD2E24E9CEB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5ED0547-EAA1-F5A1-FE93-CAFE2048B8ED}"/>
              </a:ext>
            </a:extLst>
          </p:cNvPr>
          <p:cNvSpPr txBox="1">
            <a:spLocks/>
          </p:cNvSpPr>
          <p:nvPr/>
        </p:nvSpPr>
        <p:spPr>
          <a:xfrm>
            <a:off x="3552908" y="246406"/>
            <a:ext cx="8371631" cy="6696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Facial Recognition Product Offering -  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34040C-9DAB-3AE4-7BED-91E03915DD2E}"/>
              </a:ext>
            </a:extLst>
          </p:cNvPr>
          <p:cNvSpPr/>
          <p:nvPr/>
        </p:nvSpPr>
        <p:spPr>
          <a:xfrm>
            <a:off x="195818" y="1417594"/>
            <a:ext cx="1182623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Access Control</a:t>
            </a:r>
            <a:endParaRPr lang="en-US" altLang="ja-JP" sz="3600" i="1" dirty="0">
              <a:solidFill>
                <a:srgbClr val="FFC000"/>
              </a:solidFill>
              <a:latin typeface="Arial" pitchFamily="34" charset="0"/>
            </a:endParaRPr>
          </a:p>
          <a:p>
            <a:pPr algn="ctr">
              <a:buClr>
                <a:srgbClr val="FFC000"/>
              </a:buClr>
            </a:pPr>
            <a:r>
              <a:rPr lang="en-US" altLang="ja-JP" sz="3600" i="1" dirty="0"/>
              <a:t>Cutting Edge Solutions for Access Control .</a:t>
            </a:r>
          </a:p>
          <a:p>
            <a:pPr algn="ctr">
              <a:buClr>
                <a:srgbClr val="FFC000"/>
              </a:buClr>
            </a:pPr>
            <a:endParaRPr lang="en-US" altLang="ja-JP" sz="3600" i="1" dirty="0">
              <a:solidFill>
                <a:srgbClr val="FFC000"/>
              </a:solidFill>
            </a:endParaRPr>
          </a:p>
          <a:p>
            <a:pPr algn="ctr">
              <a:buClr>
                <a:srgbClr val="FFC000"/>
              </a:buClr>
            </a:pPr>
            <a:r>
              <a:rPr lang="en-US" altLang="ja-JP" sz="3600" i="1" dirty="0" err="1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 err="1">
                <a:solidFill>
                  <a:srgbClr val="FFC000"/>
                </a:solidFill>
                <a:latin typeface="Arial" pitchFamily="34" charset="0"/>
              </a:rPr>
              <a:t>Point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 Series</a:t>
            </a:r>
          </a:p>
          <a:p>
            <a:pPr algn="ctr">
              <a:buClr>
                <a:srgbClr val="FFC000"/>
              </a:buClr>
            </a:pPr>
            <a:r>
              <a:rPr lang="en-US" altLang="ja-JP" sz="3600" i="1" dirty="0"/>
              <a:t>Live video Surveillance and Monitoring</a:t>
            </a:r>
          </a:p>
          <a:p>
            <a:pPr algn="ctr">
              <a:buClr>
                <a:srgbClr val="FFC000"/>
              </a:buClr>
            </a:pPr>
            <a:endParaRPr lang="en-US" altLang="ja-JP" sz="3600" i="1" dirty="0">
              <a:solidFill>
                <a:srgbClr val="FFC000"/>
              </a:solidFill>
            </a:endParaRPr>
          </a:p>
          <a:p>
            <a:pPr algn="ctr"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Search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</a:t>
            </a:r>
          </a:p>
          <a:p>
            <a:pPr algn="ctr">
              <a:buClr>
                <a:srgbClr val="FFC000"/>
              </a:buClr>
            </a:pPr>
            <a:r>
              <a:rPr lang="en-US" altLang="ja-JP" sz="3600" i="1" dirty="0"/>
              <a:t>Investigative Analysis of  Stored and Provided Video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F6D4B5-7B3E-7F3E-3205-961C63A3C2CB}"/>
              </a:ext>
            </a:extLst>
          </p:cNvPr>
          <p:cNvSpPr/>
          <p:nvPr/>
        </p:nvSpPr>
        <p:spPr>
          <a:xfrm>
            <a:off x="0" y="6481274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641D-ED28-0777-9266-02A6641606DB}"/>
              </a:ext>
            </a:extLst>
          </p:cNvPr>
          <p:cNvSpPr txBox="1"/>
          <p:nvPr/>
        </p:nvSpPr>
        <p:spPr>
          <a:xfrm>
            <a:off x="-134822" y="6498219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E2364-E365-8C4C-73D9-EAFE0F1B5110}"/>
              </a:ext>
            </a:extLst>
          </p:cNvPr>
          <p:cNvSpPr txBox="1"/>
          <p:nvPr/>
        </p:nvSpPr>
        <p:spPr>
          <a:xfrm>
            <a:off x="8973173" y="6529979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860C030C-0D13-C54E-33E2-A09B195931E9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5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60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6BE34-30B9-4E6C-BFEA-AE9207C5640C}"/>
              </a:ext>
            </a:extLst>
          </p:cNvPr>
          <p:cNvSpPr/>
          <p:nvPr/>
        </p:nvSpPr>
        <p:spPr>
          <a:xfrm>
            <a:off x="502930" y="2998996"/>
            <a:ext cx="5081759" cy="3139321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Up to 1024 Doors ENTRY/EXIT Protection on one network </a:t>
            </a:r>
          </a:p>
          <a:p>
            <a:pPr marL="3429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Controller can fully manage 4 doors with readers on Entry and/or Exit  </a:t>
            </a:r>
          </a:p>
          <a:p>
            <a:pPr marL="3429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Additional accessories: Door, turnstiles, alarms, Lift control ,locker</a:t>
            </a:r>
          </a:p>
          <a:p>
            <a:pPr marL="3429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Face recognition in a crowd</a:t>
            </a:r>
          </a:p>
          <a:p>
            <a:pPr algn="ctr">
              <a:spcAft>
                <a:spcPts val="1200"/>
              </a:spcAft>
              <a:buClr>
                <a:srgbClr val="FFC000"/>
              </a:buClr>
            </a:pPr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2459514" y="1419655"/>
            <a:ext cx="78092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Physical Access Control</a:t>
            </a:r>
            <a:endParaRPr lang="en-US" altLang="ja-JP" sz="3600" i="1" dirty="0">
              <a:solidFill>
                <a:srgbClr val="FFC000"/>
              </a:solidFill>
              <a:latin typeface="Arial" pitchFamily="34" charset="0"/>
            </a:endParaRPr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916B87B9-4A7F-404D-9C43-FE2C33BC2E75}"/>
              </a:ext>
            </a:extLst>
          </p:cNvPr>
          <p:cNvSpPr txBox="1">
            <a:spLocks/>
          </p:cNvSpPr>
          <p:nvPr/>
        </p:nvSpPr>
        <p:spPr>
          <a:xfrm>
            <a:off x="3539303" y="270848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Video Surveillance  </a:t>
            </a:r>
            <a:endParaRPr lang="en-US" sz="2800" b="1" i="1" cap="none" dirty="0">
              <a:solidFill>
                <a:schemeClr val="tx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333412F9-9749-4B59-8A69-3BFBA4C7F472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6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EC7085-1D8B-C75A-E8C3-78EBCEBE8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160" y="2399090"/>
            <a:ext cx="2978291" cy="2596619"/>
          </a:xfrm>
          <a:prstGeom prst="rect">
            <a:avLst/>
          </a:prstGeom>
          <a:ln w="28575">
            <a:solidFill>
              <a:srgbClr val="FFCC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705FF3-4182-433D-9877-A4D9151C7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136" y="3565339"/>
            <a:ext cx="3188260" cy="2537427"/>
          </a:xfrm>
          <a:prstGeom prst="rect">
            <a:avLst/>
          </a:prstGeom>
          <a:ln w="28575">
            <a:solidFill>
              <a:srgbClr val="FFCC00"/>
            </a:solidFill>
          </a:ln>
        </p:spPr>
      </p:pic>
    </p:spTree>
    <p:extLst>
      <p:ext uri="{BB962C8B-B14F-4D97-AF65-F5344CB8AC3E}">
        <p14:creationId xmlns:p14="http://schemas.microsoft.com/office/powerpoint/2010/main" val="3010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6BE34-30B9-4E6C-BFEA-AE9207C5640C}"/>
              </a:ext>
            </a:extLst>
          </p:cNvPr>
          <p:cNvSpPr/>
          <p:nvPr/>
        </p:nvSpPr>
        <p:spPr>
          <a:xfrm>
            <a:off x="288699" y="2050805"/>
            <a:ext cx="5043952" cy="4378122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endParaRPr lang="en-US" sz="1600" b="1" i="1" dirty="0">
              <a:solidFill>
                <a:srgbClr val="FFCC00"/>
              </a:solidFill>
            </a:endParaRPr>
          </a:p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</a:t>
            </a:r>
          </a:p>
          <a:p>
            <a:pPr>
              <a:spcAft>
                <a:spcPts val="300"/>
              </a:spcAft>
              <a:buClr>
                <a:srgbClr val="FFC000"/>
              </a:buClr>
            </a:pPr>
            <a:endParaRPr lang="en-US" sz="1600" b="1" i="1" dirty="0">
              <a:solidFill>
                <a:srgbClr val="FFCC00"/>
              </a:solidFill>
            </a:endParaRP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Live camera viewing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Find/Detect Faces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Compares/Match Faces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Alert on matched faces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Audible alarms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Search Identity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User customizable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Video frame storage capability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250 Person database</a:t>
            </a:r>
          </a:p>
          <a:p>
            <a:pPr>
              <a:spcAft>
                <a:spcPts val="1200"/>
              </a:spcAft>
              <a:buClr>
                <a:srgbClr val="FFC000"/>
              </a:buClr>
            </a:pP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288699" y="1429627"/>
            <a:ext cx="40469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 LITE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E12B271-AACD-43DD-9963-9B521E4EA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960" y="1626657"/>
            <a:ext cx="7479955" cy="4088886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19F3CBD-6DEA-46B8-8FF9-C638828FA860}"/>
              </a:ext>
            </a:extLst>
          </p:cNvPr>
          <p:cNvSpPr/>
          <p:nvPr/>
        </p:nvSpPr>
        <p:spPr>
          <a:xfrm>
            <a:off x="9624814" y="2427328"/>
            <a:ext cx="439947" cy="4302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330501-EDDB-4B85-A62A-934831ECA082}"/>
              </a:ext>
            </a:extLst>
          </p:cNvPr>
          <p:cNvSpPr/>
          <p:nvPr/>
        </p:nvSpPr>
        <p:spPr>
          <a:xfrm>
            <a:off x="9119917" y="2440778"/>
            <a:ext cx="439947" cy="4302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0C924D-E015-4112-A78E-0FDF3D173B7A}"/>
              </a:ext>
            </a:extLst>
          </p:cNvPr>
          <p:cNvGrpSpPr/>
          <p:nvPr/>
        </p:nvGrpSpPr>
        <p:grpSpPr>
          <a:xfrm>
            <a:off x="9559864" y="4196804"/>
            <a:ext cx="1766004" cy="1790363"/>
            <a:chOff x="9559864" y="4196804"/>
            <a:chExt cx="1766004" cy="179036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76188C7-6FCF-4CD8-A363-FC52627CC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9864" y="4196804"/>
              <a:ext cx="1766004" cy="1790363"/>
            </a:xfrm>
            <a:prstGeom prst="rect">
              <a:avLst/>
            </a:prstGeom>
            <a:ln w="28575">
              <a:solidFill>
                <a:schemeClr val="tx1"/>
              </a:solidFill>
            </a:ln>
            <a:effectLst>
              <a:outerShdw blurRad="330200" dist="114300" dir="8100000" sx="101000" sy="101000" algn="tr" rotWithShape="0">
                <a:prstClr val="black">
                  <a:alpha val="78000"/>
                </a:prstClr>
              </a:outerShdw>
            </a:effectLst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11F0CFF-C8E1-4DC3-878D-1A1A334CA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79166" y="5217129"/>
              <a:ext cx="371190" cy="389445"/>
            </a:xfrm>
            <a:prstGeom prst="rect">
              <a:avLst/>
            </a:prstGeom>
          </p:spPr>
        </p:pic>
      </p:grpSp>
      <p:sp>
        <p:nvSpPr>
          <p:cNvPr id="19" name="Title 2">
            <a:extLst>
              <a:ext uri="{FF2B5EF4-FFF2-40B4-BE49-F238E27FC236}">
                <a16:creationId xmlns:a16="http://schemas.microsoft.com/office/drawing/2014/main" id="{451E83F7-8383-4452-851C-AA2BBB97E425}"/>
              </a:ext>
            </a:extLst>
          </p:cNvPr>
          <p:cNvSpPr txBox="1">
            <a:spLocks/>
          </p:cNvSpPr>
          <p:nvPr/>
        </p:nvSpPr>
        <p:spPr>
          <a:xfrm>
            <a:off x="3539303" y="270848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Live Video Surveillance  </a:t>
            </a:r>
            <a:endParaRPr lang="en-US" sz="2800" b="1" i="1" cap="none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465F2C70-4E39-4616-80FB-45968B22EAC2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7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58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253035" y="1418329"/>
            <a:ext cx="38427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 6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01573B-A935-4CDC-A704-3DB428135627}"/>
              </a:ext>
            </a:extLst>
          </p:cNvPr>
          <p:cNvSpPr/>
          <p:nvPr/>
        </p:nvSpPr>
        <p:spPr>
          <a:xfrm>
            <a:off x="253035" y="2416083"/>
            <a:ext cx="4454751" cy="2777683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Features: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Six simultaneous cameras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Dedicated enrollment channel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10,000-person database capacity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Alerts from all cameras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Advanced database search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Image Recalls 2 weeks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Expanded management tools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C6218D-9750-4BD7-9220-266A0373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262" y="1584320"/>
            <a:ext cx="6569162" cy="368936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4C4F53-9BA7-42C0-968A-0A4DFB017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767" y="3694759"/>
            <a:ext cx="5433872" cy="1883104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C07B12D-3171-4B51-A516-DF6898A6F053}"/>
              </a:ext>
            </a:extLst>
          </p:cNvPr>
          <p:cNvSpPr txBox="1">
            <a:spLocks/>
          </p:cNvSpPr>
          <p:nvPr/>
        </p:nvSpPr>
        <p:spPr>
          <a:xfrm>
            <a:off x="3539303" y="270848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Video Surveillance  </a:t>
            </a:r>
            <a:endParaRPr lang="en-US" sz="2800" b="1" i="1" cap="none" dirty="0">
              <a:solidFill>
                <a:schemeClr val="tx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30450E8-1716-4B80-90A5-D53AD5B48911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8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1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2934957" y="1347828"/>
            <a:ext cx="5681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 Commander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828E4-B124-4439-B57A-CE536D3EBC0C}"/>
              </a:ext>
            </a:extLst>
          </p:cNvPr>
          <p:cNvSpPr/>
          <p:nvPr/>
        </p:nvSpPr>
        <p:spPr>
          <a:xfrm>
            <a:off x="5936447" y="3263403"/>
            <a:ext cx="8511074" cy="40011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FFC000"/>
              </a:buClr>
            </a:pPr>
            <a:r>
              <a:rPr lang="en-US" sz="2000" dirty="0"/>
              <a:t> 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56175B8C-23C3-4D91-AD25-02998D61DCCC}"/>
              </a:ext>
            </a:extLst>
          </p:cNvPr>
          <p:cNvSpPr txBox="1">
            <a:spLocks/>
          </p:cNvSpPr>
          <p:nvPr/>
        </p:nvSpPr>
        <p:spPr>
          <a:xfrm>
            <a:off x="3539303" y="270848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Video Surveillance  </a:t>
            </a:r>
            <a:endParaRPr lang="en-US" sz="2800" b="1" i="1" cap="none" dirty="0">
              <a:solidFill>
                <a:schemeClr val="tx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2D44F57-E09E-4DDA-AA0D-BB25097DC3FC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9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FAD39E-5FB5-48A5-84A4-5844072EACE1}"/>
              </a:ext>
            </a:extLst>
          </p:cNvPr>
          <p:cNvSpPr/>
          <p:nvPr/>
        </p:nvSpPr>
        <p:spPr>
          <a:xfrm>
            <a:off x="920811" y="2050805"/>
            <a:ext cx="8183432" cy="4062651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FFC000"/>
              </a:buClr>
            </a:pPr>
            <a:r>
              <a:rPr lang="en-US" sz="2000" dirty="0"/>
              <a:t>Multiple cameras for high security operations in enterprise deployments.</a:t>
            </a:r>
          </a:p>
          <a:p>
            <a:pPr algn="ctr">
              <a:spcAft>
                <a:spcPts val="1200"/>
              </a:spcAft>
              <a:buClr>
                <a:srgbClr val="FFC000"/>
              </a:buClr>
            </a:pPr>
            <a:r>
              <a:rPr lang="en-US" sz="2000" dirty="0"/>
              <a:t>Advanced communications for rapid security response.</a:t>
            </a:r>
          </a:p>
          <a:p>
            <a:pPr algn="ctr">
              <a:spcAft>
                <a:spcPts val="1200"/>
              </a:spcAft>
              <a:buClr>
                <a:srgbClr val="FFC000"/>
              </a:buClr>
            </a:pPr>
            <a:r>
              <a:rPr lang="en-US" sz="2000" dirty="0"/>
              <a:t>Detected or recognized faces can be transmitted via text messaging and email.</a:t>
            </a:r>
          </a:p>
          <a:p>
            <a:pPr marL="2743200" indent="-342900">
              <a:spcBef>
                <a:spcPts val="1200"/>
              </a:spcBef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/>
              <a:t>Cities and local government </a:t>
            </a:r>
          </a:p>
          <a:p>
            <a:pPr marL="27432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/>
              <a:t>Hospitals </a:t>
            </a:r>
          </a:p>
          <a:p>
            <a:pPr marL="27432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/>
              <a:t>Corporations </a:t>
            </a:r>
          </a:p>
          <a:p>
            <a:pPr marL="27432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/>
              <a:t>Universities</a:t>
            </a:r>
          </a:p>
          <a:p>
            <a:pPr marL="27432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/>
              <a:t>Government and law enforcement</a:t>
            </a:r>
          </a:p>
          <a:p>
            <a:pPr marL="342900" indent="-342900">
              <a:spcAft>
                <a:spcPts val="12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4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246836" y="1426444"/>
            <a:ext cx="5681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 Commander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828E4-B124-4439-B57A-CE536D3EBC0C}"/>
              </a:ext>
            </a:extLst>
          </p:cNvPr>
          <p:cNvSpPr/>
          <p:nvPr/>
        </p:nvSpPr>
        <p:spPr>
          <a:xfrm>
            <a:off x="250599" y="2050805"/>
            <a:ext cx="5043952" cy="3439403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FFC000"/>
              </a:buClr>
            </a:pPr>
            <a:r>
              <a:rPr lang="en-US" sz="2000" b="1" i="1" dirty="0"/>
              <a:t>Multiple-camera with enhanced communications and alerts</a:t>
            </a:r>
          </a:p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Features: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SMS notifications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Email notifications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Six simultaneous cameras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100,000-person database capacity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Advanced notifications and communications of detected and recognized faces.</a:t>
            </a:r>
          </a:p>
          <a:p>
            <a:pPr>
              <a:spcAft>
                <a:spcPts val="1200"/>
              </a:spcAft>
              <a:buClr>
                <a:srgbClr val="FFC000"/>
              </a:buClr>
            </a:pP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7E783F7-0068-46D9-B1D0-2B5C82230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007" y="2091422"/>
            <a:ext cx="6580799" cy="3597366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9BECE82-ED2B-4C42-9659-D6C05822E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991" y="2208788"/>
            <a:ext cx="6600825" cy="1981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F87723E-8324-4581-9005-228401D84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089" y="2261356"/>
            <a:ext cx="2442181" cy="18951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5DADF3-7CFB-45E0-98E7-39C9B102CD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6992" y="4156488"/>
            <a:ext cx="6600825" cy="15486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113485-63B2-4F48-9770-1A13293F3E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668" y="4255001"/>
            <a:ext cx="4181475" cy="137729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9596F0-DFFC-4A5D-A85F-1E58784B9E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1789" y="4370207"/>
            <a:ext cx="481309" cy="522805"/>
          </a:xfrm>
          <a:prstGeom prst="rect">
            <a:avLst/>
          </a:prstGeom>
        </p:spPr>
      </p:pic>
      <p:sp>
        <p:nvSpPr>
          <p:cNvPr id="19" name="Title 2">
            <a:extLst>
              <a:ext uri="{FF2B5EF4-FFF2-40B4-BE49-F238E27FC236}">
                <a16:creationId xmlns:a16="http://schemas.microsoft.com/office/drawing/2014/main" id="{709E4274-64F6-4307-817A-C81206E55005}"/>
              </a:ext>
            </a:extLst>
          </p:cNvPr>
          <p:cNvSpPr txBox="1">
            <a:spLocks/>
          </p:cNvSpPr>
          <p:nvPr/>
        </p:nvSpPr>
        <p:spPr>
          <a:xfrm>
            <a:off x="3539303" y="270848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Video Surveillance  </a:t>
            </a:r>
            <a:endParaRPr lang="en-US" sz="2800" b="1" i="1" cap="none" dirty="0">
              <a:solidFill>
                <a:schemeClr val="tx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C9D354D3-3C64-4C20-85F7-BA99EB70EBE5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10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1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0" y="1057126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903264" y="1266501"/>
            <a:ext cx="43920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Search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C7A0A-A8D7-4EDA-B177-985403D8654F}"/>
              </a:ext>
            </a:extLst>
          </p:cNvPr>
          <p:cNvSpPr/>
          <p:nvPr/>
        </p:nvSpPr>
        <p:spPr>
          <a:xfrm>
            <a:off x="937923" y="1912832"/>
            <a:ext cx="4702401" cy="370870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FFC000"/>
              </a:buClr>
            </a:pPr>
            <a:r>
              <a:rPr lang="en-US" sz="2000" dirty="0"/>
              <a:t>Advanced video facial recognition management from stored/recorded video images for investigative analysis.</a:t>
            </a:r>
          </a:p>
          <a:p>
            <a:pPr>
              <a:spcAft>
                <a:spcPts val="300"/>
              </a:spcAft>
              <a:buClr>
                <a:srgbClr val="FFC000"/>
              </a:buClr>
            </a:pPr>
            <a:endParaRPr lang="en-US" sz="1600" b="1" i="1" dirty="0">
              <a:solidFill>
                <a:srgbClr val="FFCC00"/>
              </a:solidFill>
            </a:endParaRPr>
          </a:p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Features:</a:t>
            </a:r>
          </a:p>
          <a:p>
            <a:pPr marL="3429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VMS controls</a:t>
            </a:r>
          </a:p>
          <a:p>
            <a:pPr marL="3429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Video Frame enhancement</a:t>
            </a:r>
          </a:p>
          <a:p>
            <a:pPr marL="3429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Auto processing from stored video for detected and recognized faces.</a:t>
            </a:r>
          </a:p>
          <a:p>
            <a:pPr marL="3429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Facial database creation and management</a:t>
            </a:r>
          </a:p>
          <a:p>
            <a:pPr marL="3429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Database size 100,000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181EF89-D1AC-4321-9EA5-0578DE21F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3F7ED5-C92C-5E72-5C26-20AC88576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50" y="1345308"/>
            <a:ext cx="4099103" cy="2459462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B83DC7-9070-EE99-0644-E5654B2A5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279" y="3692524"/>
            <a:ext cx="3933011" cy="2326483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sp>
        <p:nvSpPr>
          <p:cNvPr id="21" name="Title 2">
            <a:extLst>
              <a:ext uri="{FF2B5EF4-FFF2-40B4-BE49-F238E27FC236}">
                <a16:creationId xmlns:a16="http://schemas.microsoft.com/office/drawing/2014/main" id="{D8DF3199-346A-4BE5-AC7A-D79EF6B0B9C2}"/>
              </a:ext>
            </a:extLst>
          </p:cNvPr>
          <p:cNvSpPr txBox="1">
            <a:spLocks/>
          </p:cNvSpPr>
          <p:nvPr/>
        </p:nvSpPr>
        <p:spPr>
          <a:xfrm>
            <a:off x="3539303" y="270848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Investigative Analysis of stored video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7791D5FA-A755-4700-AF0F-8A4C867F5823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11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62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8318-DCDB-DE8C-DE18-8F9980ED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CD07B2E-BF3A-4A2E-E373-1A4033FAAFCE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66EA2-B49D-E177-7E50-905FB3A50315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2591D-7A59-E150-AAF5-116542BF7C18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7F486-0F03-9BF6-7079-390CBE25F93F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9595DDF5-923B-F06D-89F7-8A270607D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486C61-2F1B-2507-E534-81D647B8C840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295E48-48DC-B52E-4032-77462CBE8CC1}"/>
              </a:ext>
            </a:extLst>
          </p:cNvPr>
          <p:cNvSpPr/>
          <p:nvPr/>
        </p:nvSpPr>
        <p:spPr>
          <a:xfrm>
            <a:off x="447752" y="1886152"/>
            <a:ext cx="43920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 err="1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LockDown</a:t>
            </a:r>
            <a:endParaRPr lang="en-US" altLang="ja-JP" sz="3600" i="1" dirty="0">
              <a:solidFill>
                <a:srgbClr val="FFC000"/>
              </a:solidFill>
              <a:latin typeface="Arial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8E0D35-559E-D4B2-AA14-6D02D4CB06C6}"/>
              </a:ext>
            </a:extLst>
          </p:cNvPr>
          <p:cNvSpPr/>
          <p:nvPr/>
        </p:nvSpPr>
        <p:spPr>
          <a:xfrm>
            <a:off x="87836" y="2734050"/>
            <a:ext cx="4702401" cy="390106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Features: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Facial recognition in the crowd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Advanced warning of person of interest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Operator control of door locking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Automatic door locking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Optional in all EclipseIR products</a:t>
            </a:r>
          </a:p>
          <a:p>
            <a:pPr lvl="1">
              <a:buClr>
                <a:srgbClr val="FFC000"/>
              </a:buClr>
            </a:pPr>
            <a:endParaRPr lang="en-US" dirty="0"/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spcAft>
                <a:spcPts val="600"/>
              </a:spcAft>
              <a:buClr>
                <a:srgbClr val="FFC000"/>
              </a:buClr>
            </a:pPr>
            <a:r>
              <a:rPr lang="en-US" dirty="0"/>
              <a:t>	</a:t>
            </a:r>
          </a:p>
          <a:p>
            <a:pPr marL="457200" lvl="2">
              <a:spcAft>
                <a:spcPts val="600"/>
              </a:spcAft>
              <a:buClr>
                <a:srgbClr val="FFC000"/>
              </a:buClr>
            </a:pPr>
            <a:endParaRPr lang="en-US" dirty="0"/>
          </a:p>
          <a:p>
            <a:pPr marL="800100" lvl="1" indent="-18288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i="1" dirty="0"/>
          </a:p>
          <a:p>
            <a:pPr>
              <a:spcAft>
                <a:spcPts val="1200"/>
              </a:spcAft>
              <a:buClr>
                <a:srgbClr val="FFC000"/>
              </a:buClr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FCF3208-D121-E615-7D1D-F28788080E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49BA8C5B-942C-2234-4092-2FAC465D0DB4}"/>
              </a:ext>
            </a:extLst>
          </p:cNvPr>
          <p:cNvSpPr txBox="1">
            <a:spLocks/>
          </p:cNvSpPr>
          <p:nvPr/>
        </p:nvSpPr>
        <p:spPr>
          <a:xfrm>
            <a:off x="3549463" y="222882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 Down integrated with </a:t>
            </a:r>
            <a:r>
              <a:rPr lang="en-US" sz="2800" b="1" i="1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GateKeeper</a:t>
            </a:r>
            <a:endParaRPr lang="en-US" sz="2800" b="1" i="1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8CBB644F-DFB9-4C6A-209C-13DB8B37AF2B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12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D09C1-D400-A219-4A36-0B9393664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850" y="2605232"/>
            <a:ext cx="4181727" cy="22955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050" name="Picture 2" descr="Common School Fence Types | Jacksons Security Fencing">
            <a:extLst>
              <a:ext uri="{FF2B5EF4-FFF2-40B4-BE49-F238E27FC236}">
                <a16:creationId xmlns:a16="http://schemas.microsoft.com/office/drawing/2014/main" id="{E74619A0-2851-09F5-4ABF-A41E76D00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327" y="1605706"/>
            <a:ext cx="2782455" cy="2086841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93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53D0B205-722B-45E6-BB2F-681F8BF2D0D9}"/>
              </a:ext>
            </a:extLst>
          </p:cNvPr>
          <p:cNvSpPr txBox="1">
            <a:spLocks/>
          </p:cNvSpPr>
          <p:nvPr/>
        </p:nvSpPr>
        <p:spPr>
          <a:xfrm>
            <a:off x="4209431" y="270848"/>
            <a:ext cx="5807334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Applications</a:t>
            </a:r>
            <a:endParaRPr lang="en-US" sz="2800" b="1" i="1" cap="none" dirty="0">
              <a:solidFill>
                <a:schemeClr val="tx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6" name="Picture 25" descr="A picture containing drawing&#10;&#10;Description automatically generated">
            <a:extLst>
              <a:ext uri="{FF2B5EF4-FFF2-40B4-BE49-F238E27FC236}">
                <a16:creationId xmlns:a16="http://schemas.microsoft.com/office/drawing/2014/main" id="{BB29727E-C93B-4DC7-9481-1797ACAF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77C8F1B-799B-4E32-A23B-00D963573055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129D4E-54F5-42CB-B747-D8D98472D221}"/>
              </a:ext>
            </a:extLst>
          </p:cNvPr>
          <p:cNvCxnSpPr>
            <a:cxnSpLocks/>
          </p:cNvCxnSpPr>
          <p:nvPr/>
        </p:nvCxnSpPr>
        <p:spPr>
          <a:xfrm>
            <a:off x="571500" y="2983947"/>
            <a:ext cx="11049000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CE656B6-9207-451A-B567-438522854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237" y="2039495"/>
            <a:ext cx="2143125" cy="142875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342900" dist="279400" dir="3960000" algn="t" rotWithShape="0">
              <a:prstClr val="black"/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7520-CADD-4B6D-AA57-EE80DEAB2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338" y="2067015"/>
            <a:ext cx="2143125" cy="142875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342900" dist="279400" dir="3960000" algn="t" rotWithShape="0">
              <a:prstClr val="black"/>
            </a:outerShdw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F37F1C6-1643-4307-8365-3259A3F4B7A3}"/>
              </a:ext>
            </a:extLst>
          </p:cNvPr>
          <p:cNvSpPr txBox="1"/>
          <p:nvPr/>
        </p:nvSpPr>
        <p:spPr>
          <a:xfrm>
            <a:off x="3628694" y="3495765"/>
            <a:ext cx="242411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C00"/>
                </a:solidFill>
              </a:rPr>
              <a:t>Corporate &amp; Enterprise Security</a:t>
            </a:r>
          </a:p>
          <a:p>
            <a:pPr algn="ctr"/>
            <a:endParaRPr lang="en-US" sz="1400" dirty="0"/>
          </a:p>
          <a:p>
            <a:pPr algn="ctr"/>
            <a:r>
              <a:rPr lang="en-US" sz="1600" b="1" dirty="0">
                <a:latin typeface="+mj-lt"/>
              </a:rPr>
              <a:t>Match</a:t>
            </a:r>
            <a:r>
              <a:rPr lang="en-US" sz="1600" dirty="0">
                <a:latin typeface="+mj-lt"/>
              </a:rPr>
              <a:t>Point</a:t>
            </a:r>
            <a:r>
              <a:rPr lang="en-US" sz="1600" b="1" dirty="0">
                <a:latin typeface="+mj-lt"/>
              </a:rPr>
              <a:t> </a:t>
            </a:r>
            <a:r>
              <a:rPr lang="en-US" sz="1600" b="1" i="1" dirty="0">
                <a:latin typeface="+mj-lt"/>
              </a:rPr>
              <a:t>6</a:t>
            </a:r>
            <a:r>
              <a:rPr lang="en-US" sz="1600" dirty="0">
                <a:latin typeface="+mj-lt"/>
              </a:rPr>
              <a:t> </a:t>
            </a:r>
          </a:p>
          <a:p>
            <a:pPr algn="ctr"/>
            <a:endParaRPr lang="en-US" sz="1600" dirty="0">
              <a:latin typeface="+mj-lt"/>
            </a:endParaRP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Live video analysis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Multi-channel monitoring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Large database capacity</a:t>
            </a:r>
          </a:p>
          <a:p>
            <a:pPr marL="9144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FE1923-D083-45DA-96C4-A7EFF4980DD4}"/>
              </a:ext>
            </a:extLst>
          </p:cNvPr>
          <p:cNvSpPr txBox="1"/>
          <p:nvPr/>
        </p:nvSpPr>
        <p:spPr>
          <a:xfrm>
            <a:off x="9100146" y="3495765"/>
            <a:ext cx="2424113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C00"/>
                </a:solidFill>
              </a:rPr>
              <a:t>Investigative Video Analysis</a:t>
            </a:r>
          </a:p>
          <a:p>
            <a:pPr algn="ctr"/>
            <a:endParaRPr lang="en-US" sz="1400" dirty="0"/>
          </a:p>
          <a:p>
            <a:pPr algn="ctr"/>
            <a:r>
              <a:rPr lang="en-US" sz="1600" b="1" dirty="0">
                <a:latin typeface="+mj-lt"/>
              </a:rPr>
              <a:t>SearchP</a:t>
            </a:r>
            <a:r>
              <a:rPr lang="en-US" sz="1600" dirty="0">
                <a:latin typeface="+mj-lt"/>
              </a:rPr>
              <a:t>oint </a:t>
            </a:r>
          </a:p>
          <a:p>
            <a:pPr algn="ctr"/>
            <a:endParaRPr lang="en-US" sz="1600" dirty="0">
              <a:latin typeface="+mj-lt"/>
            </a:endParaRP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Investigative Analysis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Stored and recorded video Biometric analysis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Image Enhancement</a:t>
            </a:r>
          </a:p>
          <a:p>
            <a:pPr marL="137160" indent="-1371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Auto Processing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BC7A5D-815D-4D16-98C2-12F79D000669}"/>
              </a:ext>
            </a:extLst>
          </p:cNvPr>
          <p:cNvSpPr/>
          <p:nvPr/>
        </p:nvSpPr>
        <p:spPr>
          <a:xfrm>
            <a:off x="742043" y="1278570"/>
            <a:ext cx="10707914" cy="470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800"/>
              </a:spcAft>
              <a:buClr>
                <a:srgbClr val="FFC000"/>
              </a:buClr>
            </a:pPr>
            <a:r>
              <a:rPr lang="en-US" sz="2400" b="1" i="1" dirty="0">
                <a:solidFill>
                  <a:srgbClr val="FFCC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Advanced facial recognition products with market focus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E578D5-1EB3-44D0-875B-473C59164303}"/>
              </a:ext>
            </a:extLst>
          </p:cNvPr>
          <p:cNvGrpSpPr/>
          <p:nvPr/>
        </p:nvGrpSpPr>
        <p:grpSpPr>
          <a:xfrm>
            <a:off x="6481126" y="2067015"/>
            <a:ext cx="2424113" cy="3533762"/>
            <a:chOff x="871537" y="2039495"/>
            <a:chExt cx="2424113" cy="35337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B003508-5435-4543-A283-2C37FB7BE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1537" y="2039495"/>
              <a:ext cx="2200275" cy="1428750"/>
            </a:xfrm>
            <a:prstGeom prst="rect">
              <a:avLst/>
            </a:prstGeom>
            <a:ln w="12700">
              <a:solidFill>
                <a:schemeClr val="tx1"/>
              </a:solidFill>
            </a:ln>
            <a:effectLst>
              <a:outerShdw blurRad="342900" dist="279400" dir="3960000" algn="t" rotWithShape="0">
                <a:prstClr val="black"/>
              </a:outerShd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5DAFA3-69D3-451A-80D9-A16A586E4C7E}"/>
                </a:ext>
              </a:extLst>
            </p:cNvPr>
            <p:cNvSpPr txBox="1"/>
            <p:nvPr/>
          </p:nvSpPr>
          <p:spPr>
            <a:xfrm>
              <a:off x="871537" y="3495765"/>
              <a:ext cx="2424113" cy="2077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CC00"/>
                  </a:solidFill>
                </a:rPr>
                <a:t>Law Enforcement</a:t>
              </a:r>
            </a:p>
            <a:p>
              <a:pPr algn="ctr"/>
              <a:r>
                <a:rPr lang="en-US" b="1" dirty="0">
                  <a:solidFill>
                    <a:srgbClr val="FFCC00"/>
                  </a:solidFill>
                </a:rPr>
                <a:t>&amp; Government</a:t>
              </a:r>
            </a:p>
            <a:p>
              <a:pPr algn="ctr"/>
              <a:endParaRPr lang="en-US" sz="1400" dirty="0"/>
            </a:p>
            <a:p>
              <a:pPr algn="ctr"/>
              <a:r>
                <a:rPr lang="en-US" sz="1600" b="1" dirty="0">
                  <a:latin typeface="+mj-lt"/>
                </a:rPr>
                <a:t>Match</a:t>
              </a:r>
              <a:r>
                <a:rPr lang="en-US" sz="1600" dirty="0">
                  <a:latin typeface="+mj-lt"/>
                </a:rPr>
                <a:t>Point </a:t>
              </a:r>
              <a:r>
                <a:rPr lang="en-US" sz="1600" i="1" dirty="0">
                  <a:latin typeface="+mj-lt"/>
                </a:rPr>
                <a:t>Commander</a:t>
              </a:r>
              <a:endParaRPr lang="en-US" sz="1600" dirty="0">
                <a:latin typeface="+mj-lt"/>
              </a:endParaRPr>
            </a:p>
            <a:p>
              <a:pPr algn="ctr"/>
              <a:endParaRPr lang="en-US" sz="1600" dirty="0">
                <a:latin typeface="+mj-lt"/>
              </a:endParaRP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Live multi-channel analysis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Enhanced communications and notifications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D81CD0-6606-4667-A61A-D445E13FA84A}"/>
                </a:ext>
              </a:extLst>
            </p:cNvPr>
            <p:cNvCxnSpPr/>
            <p:nvPr/>
          </p:nvCxnSpPr>
          <p:spPr>
            <a:xfrm>
              <a:off x="971550" y="4210050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258E88-835A-4A5A-BBC4-BBFE6D906940}"/>
                </a:ext>
              </a:extLst>
            </p:cNvPr>
            <p:cNvCxnSpPr/>
            <p:nvPr/>
          </p:nvCxnSpPr>
          <p:spPr>
            <a:xfrm>
              <a:off x="971550" y="4638675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001049-257B-4398-BA43-D7D71457349B}"/>
              </a:ext>
            </a:extLst>
          </p:cNvPr>
          <p:cNvCxnSpPr/>
          <p:nvPr/>
        </p:nvCxnSpPr>
        <p:spPr>
          <a:xfrm>
            <a:off x="3686175" y="4210050"/>
            <a:ext cx="217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0B0ABDB-8CED-41C0-91EC-90B676534DC2}"/>
              </a:ext>
            </a:extLst>
          </p:cNvPr>
          <p:cNvCxnSpPr/>
          <p:nvPr/>
        </p:nvCxnSpPr>
        <p:spPr>
          <a:xfrm>
            <a:off x="3686175" y="4638675"/>
            <a:ext cx="217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01A05B8-B5CB-4401-8328-C42C62AFF36E}"/>
              </a:ext>
            </a:extLst>
          </p:cNvPr>
          <p:cNvGrpSpPr/>
          <p:nvPr/>
        </p:nvGrpSpPr>
        <p:grpSpPr>
          <a:xfrm>
            <a:off x="769128" y="2028950"/>
            <a:ext cx="2424113" cy="3610706"/>
            <a:chOff x="6341501" y="2039495"/>
            <a:chExt cx="2424113" cy="36107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E93049-8639-4FFA-8ECC-A9E19F23F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27787" y="2039495"/>
              <a:ext cx="2143125" cy="1428750"/>
            </a:xfrm>
            <a:prstGeom prst="rect">
              <a:avLst/>
            </a:prstGeom>
            <a:ln w="12700">
              <a:solidFill>
                <a:schemeClr val="tx1"/>
              </a:solidFill>
            </a:ln>
            <a:effectLst>
              <a:outerShdw blurRad="342900" dist="279400" dir="3960000" algn="t" rotWithShape="0">
                <a:prstClr val="black"/>
              </a:outerShdw>
            </a:effec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83AD29D-EAC9-4D06-B488-1A106E22D315}"/>
                </a:ext>
              </a:extLst>
            </p:cNvPr>
            <p:cNvSpPr txBox="1"/>
            <p:nvPr/>
          </p:nvSpPr>
          <p:spPr>
            <a:xfrm>
              <a:off x="6341501" y="3495765"/>
              <a:ext cx="2424113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CC00"/>
                  </a:solidFill>
                </a:rPr>
                <a:t>Small Business</a:t>
              </a:r>
            </a:p>
            <a:p>
              <a:pPr algn="ctr"/>
              <a:r>
                <a:rPr lang="en-US" b="1" dirty="0">
                  <a:solidFill>
                    <a:srgbClr val="FFCC00"/>
                  </a:solidFill>
                </a:rPr>
                <a:t>Security</a:t>
              </a:r>
            </a:p>
            <a:p>
              <a:pPr algn="ctr"/>
              <a:endParaRPr lang="en-US" sz="1400" dirty="0"/>
            </a:p>
            <a:p>
              <a:pPr algn="ctr"/>
              <a:r>
                <a:rPr lang="en-US" sz="1600" b="1" dirty="0">
                  <a:latin typeface="+mj-lt"/>
                </a:rPr>
                <a:t>Match</a:t>
              </a:r>
              <a:r>
                <a:rPr lang="en-US" sz="1600" dirty="0">
                  <a:latin typeface="+mj-lt"/>
                </a:rPr>
                <a:t>Point </a:t>
              </a:r>
              <a:r>
                <a:rPr lang="en-US" sz="1600" i="1" dirty="0">
                  <a:latin typeface="+mj-lt"/>
                </a:rPr>
                <a:t>LITE</a:t>
              </a:r>
              <a:endParaRPr lang="en-US" sz="1600" dirty="0">
                <a:latin typeface="+mj-lt"/>
              </a:endParaRPr>
            </a:p>
            <a:p>
              <a:pPr algn="ctr"/>
              <a:endParaRPr lang="en-US" sz="1600" dirty="0">
                <a:latin typeface="+mj-lt"/>
              </a:endParaRP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Turn-key single-channel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Rapid deployment</a:t>
              </a:r>
            </a:p>
            <a:p>
              <a:pPr marL="137160" indent="-137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/>
                <a:t>Images Recall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CAADA15-C8A2-4A25-B4E8-BEAA64BD56E7}"/>
                </a:ext>
              </a:extLst>
            </p:cNvPr>
            <p:cNvCxnSpPr/>
            <p:nvPr/>
          </p:nvCxnSpPr>
          <p:spPr>
            <a:xfrm>
              <a:off x="6427787" y="4210050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4B9BA78-4202-4079-9FF6-05F025989D03}"/>
                </a:ext>
              </a:extLst>
            </p:cNvPr>
            <p:cNvCxnSpPr/>
            <p:nvPr/>
          </p:nvCxnSpPr>
          <p:spPr>
            <a:xfrm>
              <a:off x="6427787" y="4638675"/>
              <a:ext cx="2171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F045BCE-07B8-4C2A-8241-AD6450DAB9CD}"/>
              </a:ext>
            </a:extLst>
          </p:cNvPr>
          <p:cNvCxnSpPr/>
          <p:nvPr/>
        </p:nvCxnSpPr>
        <p:spPr>
          <a:xfrm>
            <a:off x="9177338" y="4210050"/>
            <a:ext cx="217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F5E096A-902E-4DA6-AA1C-8B782D40DBCE}"/>
              </a:ext>
            </a:extLst>
          </p:cNvPr>
          <p:cNvCxnSpPr/>
          <p:nvPr/>
        </p:nvCxnSpPr>
        <p:spPr>
          <a:xfrm>
            <a:off x="9177338" y="4638675"/>
            <a:ext cx="2171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B26BFABB-0604-40BD-B1DB-3318B4A70109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13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29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4EE55D-0A0A-4657-9795-8979C2966786}"/>
              </a:ext>
            </a:extLst>
          </p:cNvPr>
          <p:cNvSpPr/>
          <p:nvPr/>
        </p:nvSpPr>
        <p:spPr>
          <a:xfrm>
            <a:off x="2959902" y="1795227"/>
            <a:ext cx="6096000" cy="2046714"/>
          </a:xfrm>
          <a:prstGeom prst="rect">
            <a:avLst/>
          </a:prstGeom>
          <a:noFill/>
          <a:effectLst/>
        </p:spPr>
        <p:txBody>
          <a:bodyPr>
            <a:spAutoFit/>
          </a:bodyPr>
          <a:lstStyle/>
          <a:p>
            <a:pPr marL="0" lvl="1" indent="0" algn="ctr" eaLnBrk="1" hangingPunct="1">
              <a:spcBef>
                <a:spcPct val="0"/>
              </a:spcBef>
              <a:buSzTx/>
              <a:buNone/>
            </a:pPr>
            <a:endParaRPr lang="en-US" dirty="0"/>
          </a:p>
          <a:p>
            <a:pPr marL="547688" lvl="1" indent="-273050" algn="ctr">
              <a:lnSpc>
                <a:spcPct val="90000"/>
              </a:lnSpc>
              <a:buClr>
                <a:srgbClr val="FFFFFF"/>
              </a:buClr>
              <a:buSzPct val="100000"/>
              <a:defRPr/>
            </a:pPr>
            <a:r>
              <a:rPr lang="en-US" altLang="ja-JP" u="sng" dirty="0">
                <a:solidFill>
                  <a:srgbClr val="FFFFFF"/>
                </a:solidFill>
                <a:latin typeface="Tw Cen MT" panose="020B0602020104020603" pitchFamily="34" charset="0"/>
                <a:ea typeface="ＭＳ Ｐゴシック" charset="-128"/>
                <a:cs typeface="Times New Roman" pitchFamily="18" charset="0"/>
              </a:rPr>
              <a:t>Eclipse Identity Recognition Corporation</a:t>
            </a:r>
          </a:p>
          <a:p>
            <a:pPr marL="547688" lvl="1" indent="-273050" algn="ctr">
              <a:lnSpc>
                <a:spcPct val="90000"/>
              </a:lnSpc>
              <a:buClr>
                <a:srgbClr val="FFFFFF"/>
              </a:buClr>
              <a:buSzPct val="100000"/>
              <a:defRPr/>
            </a:pPr>
            <a:r>
              <a:rPr lang="en-US" altLang="ja-JP" dirty="0">
                <a:solidFill>
                  <a:srgbClr val="FFFFFF"/>
                </a:solidFill>
                <a:latin typeface="Tw Cen MT" panose="020B0602020104020603" pitchFamily="34" charset="0"/>
                <a:ea typeface="ＭＳ Ｐゴシック" charset="-128"/>
                <a:cs typeface="Times New Roman" pitchFamily="18" charset="0"/>
              </a:rPr>
              <a:t>California</a:t>
            </a:r>
          </a:p>
          <a:p>
            <a:pPr marL="547688" lvl="1" indent="-273050" algn="ctr">
              <a:lnSpc>
                <a:spcPct val="90000"/>
              </a:lnSpc>
              <a:buClr>
                <a:srgbClr val="FFFFFF"/>
              </a:buClr>
              <a:buSzPct val="100000"/>
              <a:defRPr/>
            </a:pPr>
            <a:r>
              <a:rPr lang="en-US" i="1" dirty="0">
                <a:solidFill>
                  <a:srgbClr val="FFFFFF"/>
                </a:solidFill>
                <a:latin typeface="Tw Cen MT" panose="020B0602020104020603" pitchFamily="34" charset="0"/>
                <a:ea typeface="ＭＳ Ｐゴシック" charset="-128"/>
                <a:cs typeface="Times New Roman" pitchFamily="18" charset="0"/>
              </a:rPr>
              <a:t>Bogota</a:t>
            </a:r>
            <a:endParaRPr lang="en-US" i="1" dirty="0"/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endParaRPr lang="en-US" altLang="ja-JP" dirty="0">
              <a:solidFill>
                <a:srgbClr val="FFFFFF"/>
              </a:solidFill>
              <a:latin typeface="Tw Cen MT" panose="020B0602020104020603" pitchFamily="34" charset="0"/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endParaRPr lang="en-US" altLang="ja-JP" b="1" dirty="0">
              <a:solidFill>
                <a:srgbClr val="FFFFFF"/>
              </a:solidFill>
              <a:latin typeface="Tw Cen MT" panose="020B0602020104020603" pitchFamily="34" charset="0"/>
              <a:ea typeface="ＭＳ Ｐゴシック" charset="-128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88E11223-F16C-42A8-8E81-BDE6F8A96D13}"/>
              </a:ext>
            </a:extLst>
          </p:cNvPr>
          <p:cNvSpPr txBox="1">
            <a:spLocks/>
          </p:cNvSpPr>
          <p:nvPr/>
        </p:nvSpPr>
        <p:spPr>
          <a:xfrm>
            <a:off x="6593305" y="464980"/>
            <a:ext cx="5486400" cy="669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Eclipse Identity Recognition Corporation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DEBCB7-A363-442B-BF06-86A62C6C381F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707C30-465D-47A0-9265-DBE20F5B65DD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07F78-1F86-49B4-9CDC-177270779DC2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4098" name="Picture 2" descr="1999 S Bascom Ave, Campbell, CA for lease Building Photo- Image 2 of 7">
            <a:extLst>
              <a:ext uri="{FF2B5EF4-FFF2-40B4-BE49-F238E27FC236}">
                <a16:creationId xmlns:a16="http://schemas.microsoft.com/office/drawing/2014/main" id="{68EAF620-D97F-471F-9A6E-33A7FD614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36" y="2046362"/>
            <a:ext cx="2309166" cy="3462547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393700" sx="106000" sy="106000" algn="ctr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57E2E2-3D34-4644-B17B-C4978CBFF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708" y="4209724"/>
            <a:ext cx="876780" cy="1713845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393700" sx="106000" sy="106000" algn="ctr" rotWithShape="0">
              <a:prstClr val="black"/>
            </a:outerShdw>
          </a:effec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D05AFF-108B-414A-848D-F99C524B8789}"/>
              </a:ext>
            </a:extLst>
          </p:cNvPr>
          <p:cNvSpPr txBox="1">
            <a:spLocks/>
          </p:cNvSpPr>
          <p:nvPr/>
        </p:nvSpPr>
        <p:spPr bwMode="auto">
          <a:xfrm>
            <a:off x="559319" y="5594848"/>
            <a:ext cx="2187716" cy="3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 2" panose="05020102010507070707" pitchFamily="18" charset="2"/>
              <a:buChar char=""/>
              <a:defRPr sz="27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§"/>
              <a:defRPr sz="2200"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 2" panose="05020102010507070707" pitchFamily="18" charset="2"/>
              <a:buChar char=""/>
              <a:defRPr sz="1600"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defRPr sz="2000"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FFC000"/>
              </a:buClr>
              <a:buSzPct val="100000"/>
              <a:buNone/>
            </a:pPr>
            <a:r>
              <a:rPr lang="en-US" altLang="ja-JP" sz="1800" i="1" dirty="0">
                <a:solidFill>
                  <a:schemeClr val="tx1"/>
                </a:solidFill>
                <a:cs typeface="+mn-cs"/>
              </a:rPr>
              <a:t>Silicon Valley Offices</a:t>
            </a:r>
          </a:p>
        </p:txBody>
      </p: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B5F42A8D-BE9C-482E-AC39-F6D825AC8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1DC2285-D23C-451A-835E-2E0839B57187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D48C6F61-F1C2-42B5-8E35-C0B128B27192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14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31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E7975B-7AC6-4553-87CC-55802F738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96" y="1496942"/>
            <a:ext cx="1634723" cy="9956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D57FB9-8712-40F6-A6FA-32FAD6237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340" y="1263853"/>
            <a:ext cx="1592918" cy="16210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902B7D-ABCB-4676-8DBA-D014EFE13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403" y="3777776"/>
            <a:ext cx="2471086" cy="6615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F0C993-97E6-4106-8C65-B557816EE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3381" y="3661568"/>
            <a:ext cx="1108106" cy="18937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D675D94-A019-4D4B-87B4-1719CD640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907" y="3637658"/>
            <a:ext cx="1303055" cy="132102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062930-3A8F-03CD-9169-492A8F9F53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7545" y="2289038"/>
            <a:ext cx="6703913" cy="1562924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127000" sx="103000" sy="103000" algn="ctr" rotWithShape="0">
              <a:prstClr val="black">
                <a:alpha val="83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86BE34-30B9-4E6C-BFEA-AE9207C5640C}"/>
              </a:ext>
            </a:extLst>
          </p:cNvPr>
          <p:cNvSpPr/>
          <p:nvPr/>
        </p:nvSpPr>
        <p:spPr>
          <a:xfrm>
            <a:off x="337251" y="1443902"/>
            <a:ext cx="5043952" cy="304698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2800" b="1" i="1" dirty="0">
                <a:solidFill>
                  <a:srgbClr val="FFCC00"/>
                </a:solidFill>
              </a:rPr>
              <a:t>Empowering the User </a:t>
            </a:r>
          </a:p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2800" b="1" i="1" dirty="0">
                <a:solidFill>
                  <a:srgbClr val="FFCC00"/>
                </a:solidFill>
              </a:rPr>
              <a:t>through optimization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Reasons of Interest (ROI)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System performance thresholds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Recall settings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Database settings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Camera configuration</a:t>
            </a:r>
          </a:p>
          <a:p>
            <a:pPr>
              <a:spcAft>
                <a:spcPts val="1200"/>
              </a:spcAft>
              <a:buClr>
                <a:srgbClr val="FFC000"/>
              </a:buClr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8D69E6AB-A6D1-43D3-8D0E-41CA6738AFE7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15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E02D9B7B-4939-48DC-8547-1162EA7D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233" y="386976"/>
            <a:ext cx="8435647" cy="669685"/>
          </a:xfrm>
        </p:spPr>
        <p:txBody>
          <a:bodyPr>
            <a:noAutofit/>
          </a:bodyPr>
          <a:lstStyle/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World-class Facial Recognition Technologies</a:t>
            </a:r>
          </a:p>
        </p:txBody>
      </p:sp>
    </p:spTree>
    <p:extLst>
      <p:ext uri="{BB962C8B-B14F-4D97-AF65-F5344CB8AC3E}">
        <p14:creationId xmlns:p14="http://schemas.microsoft.com/office/powerpoint/2010/main" val="128023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6BE34-30B9-4E6C-BFEA-AE9207C5640C}"/>
              </a:ext>
            </a:extLst>
          </p:cNvPr>
          <p:cNvSpPr/>
          <p:nvPr/>
        </p:nvSpPr>
        <p:spPr>
          <a:xfrm>
            <a:off x="256330" y="1455325"/>
            <a:ext cx="5043952" cy="363945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2800" b="1" i="1" dirty="0">
                <a:solidFill>
                  <a:srgbClr val="FFCC00"/>
                </a:solidFill>
              </a:rPr>
              <a:t> Key User-defined Features: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Reasons of Interest (ROI)</a:t>
            </a:r>
          </a:p>
          <a:p>
            <a:pPr marL="8001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What's important to know about the person </a:t>
            </a:r>
          </a:p>
          <a:p>
            <a:pPr marL="8001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Stored in the database</a:t>
            </a:r>
          </a:p>
          <a:p>
            <a:pPr marL="8001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User customizable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System performance thresholds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Recall settings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Database settings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Camera configuration</a:t>
            </a:r>
          </a:p>
          <a:p>
            <a:pPr>
              <a:spcAft>
                <a:spcPts val="1200"/>
              </a:spcAft>
              <a:buClr>
                <a:srgbClr val="FFC000"/>
              </a:buClr>
            </a:pP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70DD69-124C-1DF0-B1CC-2BCB20B44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996" y="1623349"/>
            <a:ext cx="5211859" cy="3174362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2A72E03-0274-4FF1-8190-C2477EAB06C1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16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E13C3604-B5E6-4191-B213-C52E55A4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233" y="386976"/>
            <a:ext cx="8683841" cy="669685"/>
          </a:xfrm>
        </p:spPr>
        <p:txBody>
          <a:bodyPr>
            <a:noAutofit/>
          </a:bodyPr>
          <a:lstStyle/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World-class Facial Recognition Technologies</a:t>
            </a:r>
          </a:p>
        </p:txBody>
      </p:sp>
    </p:spTree>
    <p:extLst>
      <p:ext uri="{BB962C8B-B14F-4D97-AF65-F5344CB8AC3E}">
        <p14:creationId xmlns:p14="http://schemas.microsoft.com/office/powerpoint/2010/main" val="277367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6BE34-30B9-4E6C-BFEA-AE9207C5640C}"/>
              </a:ext>
            </a:extLst>
          </p:cNvPr>
          <p:cNvSpPr/>
          <p:nvPr/>
        </p:nvSpPr>
        <p:spPr>
          <a:xfrm>
            <a:off x="288698" y="1445811"/>
            <a:ext cx="5043952" cy="442428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 </a:t>
            </a:r>
            <a:r>
              <a:rPr lang="en-US" sz="2800" b="1" i="1" dirty="0">
                <a:solidFill>
                  <a:srgbClr val="FFCC00"/>
                </a:solidFill>
              </a:rPr>
              <a:t>Key User-defined Features: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Reasons of Interest (ROI)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System performance thresholds</a:t>
            </a:r>
          </a:p>
          <a:p>
            <a:pPr marL="8001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User define confidence levels</a:t>
            </a:r>
          </a:p>
          <a:p>
            <a:pPr marL="1257300" lvl="2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Detection</a:t>
            </a:r>
          </a:p>
          <a:p>
            <a:pPr marL="1257300" lvl="2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Match</a:t>
            </a:r>
          </a:p>
          <a:p>
            <a:pPr marL="1257300" lvl="2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Search</a:t>
            </a:r>
          </a:p>
          <a:p>
            <a:pPr marL="8001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Dynamic</a:t>
            </a:r>
          </a:p>
          <a:p>
            <a:pPr marL="800100" lvl="1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Different levels in multicamera configurations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Recall settings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Database settings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C00"/>
                </a:solidFill>
              </a:rPr>
              <a:t>Camera configuration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1FFC76-D3B2-53A4-A0A5-17F418EC0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460" y="1429627"/>
            <a:ext cx="4011448" cy="4082343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F755D75B-E4D4-44A3-880C-D9F90F2214F2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17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1B29831-8BE3-4018-B1EA-2DA594147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233" y="386976"/>
            <a:ext cx="8683841" cy="669685"/>
          </a:xfrm>
        </p:spPr>
        <p:txBody>
          <a:bodyPr>
            <a:noAutofit/>
          </a:bodyPr>
          <a:lstStyle/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World-class Facial Recognition Technologies</a:t>
            </a:r>
          </a:p>
        </p:txBody>
      </p:sp>
    </p:spTree>
    <p:extLst>
      <p:ext uri="{BB962C8B-B14F-4D97-AF65-F5344CB8AC3E}">
        <p14:creationId xmlns:p14="http://schemas.microsoft.com/office/powerpoint/2010/main" val="328477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43E20A3-2D57-49CD-955B-0F127D82E722}"/>
              </a:ext>
            </a:extLst>
          </p:cNvPr>
          <p:cNvSpPr txBox="1">
            <a:spLocks/>
          </p:cNvSpPr>
          <p:nvPr/>
        </p:nvSpPr>
        <p:spPr>
          <a:xfrm>
            <a:off x="4209431" y="270848"/>
            <a:ext cx="7137838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E67EE-2504-D76C-78D4-65BEA25929A2}"/>
              </a:ext>
            </a:extLst>
          </p:cNvPr>
          <p:cNvSpPr txBox="1"/>
          <p:nvPr/>
        </p:nvSpPr>
        <p:spPr>
          <a:xfrm>
            <a:off x="2284716" y="1295582"/>
            <a:ext cx="7316483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rgbClr val="FFC000"/>
                </a:solidFill>
              </a:rPr>
              <a:t>Key Differentiators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Simultaneous multiple face capture from video surveillance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Single-face identity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Dynamic face database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User-defined confidence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Personal trait-identity recognition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Mature and field-proven core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3F8FFA61-2480-4613-9493-D98A311ED053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18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DCB064-15B4-4B56-9379-369622BB98C3}"/>
              </a:ext>
            </a:extLst>
          </p:cNvPr>
          <p:cNvSpPr/>
          <p:nvPr/>
        </p:nvSpPr>
        <p:spPr>
          <a:xfrm>
            <a:off x="3854462" y="432961"/>
            <a:ext cx="2249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b="1" i="1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Browallia New" panose="020B0604020202020204" pitchFamily="34" charset="-34"/>
                <a:ea typeface="+mj-ea"/>
                <a:cs typeface="Browallia New" panose="020B0604020202020204" pitchFamily="34" charset="-34"/>
              </a:rPr>
              <a:t>Differentiators</a:t>
            </a:r>
          </a:p>
        </p:txBody>
      </p:sp>
    </p:spTree>
    <p:extLst>
      <p:ext uri="{BB962C8B-B14F-4D97-AF65-F5344CB8AC3E}">
        <p14:creationId xmlns:p14="http://schemas.microsoft.com/office/powerpoint/2010/main" val="2427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4EE55D-0A0A-4657-9795-8979C2966786}"/>
              </a:ext>
            </a:extLst>
          </p:cNvPr>
          <p:cNvSpPr/>
          <p:nvPr/>
        </p:nvSpPr>
        <p:spPr>
          <a:xfrm>
            <a:off x="3407497" y="2874904"/>
            <a:ext cx="4327358" cy="2406813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b="1" i="1" dirty="0">
                <a:solidFill>
                  <a:schemeClr val="accent5"/>
                </a:solidFill>
                <a:latin typeface="Tw Cen MT" panose="020B0602020104020603" pitchFamily="34" charset="0"/>
                <a:ea typeface="ＭＳ Ｐゴシック" charset="-128"/>
                <a:cs typeface="Times New Roman" pitchFamily="18" charset="0"/>
              </a:rPr>
              <a:t>Eclipse Identity Recognition Corporation</a:t>
            </a:r>
          </a:p>
          <a:p>
            <a:pPr marL="547688" lvl="1" indent="-273050" algn="ctr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1999 South Bascom Avenue, Suite 700,  </a:t>
            </a:r>
          </a:p>
          <a:p>
            <a:pPr marL="547688" lvl="1" indent="-273050" algn="ctr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Campbell, CA 95008, U.S.A.</a:t>
            </a:r>
          </a:p>
          <a:p>
            <a:pPr marL="547688" lvl="1" indent="-273050" algn="ctr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(408) 357-0041</a:t>
            </a:r>
          </a:p>
          <a:p>
            <a:pPr marL="547688" lvl="1" indent="-273050" algn="ctr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www.EclipseIR.com</a:t>
            </a:r>
          </a:p>
          <a:p>
            <a:pPr marL="547688" lvl="1" indent="-273050" algn="ctr"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sz="1400" dirty="0"/>
              <a:t>Stephen Miller, </a:t>
            </a:r>
            <a:r>
              <a:rPr lang="en-US" sz="1400" i="1" dirty="0"/>
              <a:t>smiller@eclipseir.com</a:t>
            </a:r>
          </a:p>
          <a:p>
            <a:pPr marL="274638" lvl="1" indent="0" algn="ctr" eaLnBrk="1" hangingPunct="1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buNone/>
              <a:defRPr/>
            </a:pPr>
            <a:endParaRPr lang="en-US" dirty="0"/>
          </a:p>
          <a:p>
            <a:pPr marL="0" lvl="1" indent="0" algn="ctr" eaLnBrk="1" hangingPunct="1">
              <a:spcBef>
                <a:spcPct val="0"/>
              </a:spcBef>
              <a:buSzTx/>
              <a:buNone/>
            </a:pPr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88E11223-F16C-42A8-8E81-BDE6F8A96D13}"/>
              </a:ext>
            </a:extLst>
          </p:cNvPr>
          <p:cNvSpPr txBox="1">
            <a:spLocks/>
          </p:cNvSpPr>
          <p:nvPr/>
        </p:nvSpPr>
        <p:spPr>
          <a:xfrm>
            <a:off x="6593305" y="464980"/>
            <a:ext cx="5486400" cy="669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Eclipse Identity Recognition Corporation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DEBCB7-A363-442B-BF06-86A62C6C381F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707C30-465D-47A0-9265-DBE20F5B65DD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07F78-1F86-49B4-9CDC-177270779DC2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4098" name="Picture 2" descr="1999 S Bascom Ave, Campbell, CA for lease Building Photo- Image 2 of 7">
            <a:extLst>
              <a:ext uri="{FF2B5EF4-FFF2-40B4-BE49-F238E27FC236}">
                <a16:creationId xmlns:a16="http://schemas.microsoft.com/office/drawing/2014/main" id="{68EAF620-D97F-471F-9A6E-33A7FD614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36" y="2046362"/>
            <a:ext cx="2309166" cy="3462547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393700" sx="106000" sy="106000" algn="ctr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57E2E2-3D34-4644-B17B-C4978CBFF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708" y="4209724"/>
            <a:ext cx="876780" cy="1713845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glow>
              <a:schemeClr val="accent1">
                <a:alpha val="40000"/>
              </a:schemeClr>
            </a:glow>
            <a:outerShdw blurRad="393700" sx="106000" sy="106000" algn="ctr" rotWithShape="0">
              <a:prstClr val="black"/>
            </a:outerShdw>
          </a:effec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D05AFF-108B-414A-848D-F99C524B8789}"/>
              </a:ext>
            </a:extLst>
          </p:cNvPr>
          <p:cNvSpPr txBox="1">
            <a:spLocks/>
          </p:cNvSpPr>
          <p:nvPr/>
        </p:nvSpPr>
        <p:spPr bwMode="auto">
          <a:xfrm>
            <a:off x="559319" y="5594848"/>
            <a:ext cx="2187716" cy="37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 2" panose="05020102010507070707" pitchFamily="18" charset="2"/>
              <a:buChar char=""/>
              <a:defRPr sz="27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§"/>
              <a:defRPr sz="2200"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 2" panose="05020102010507070707" pitchFamily="18" charset="2"/>
              <a:buChar char=""/>
              <a:defRPr sz="1600"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defRPr sz="2000"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ern="1200">
                <a:solidFill>
                  <a:srgbClr val="FFFFFF"/>
                </a:solidFill>
                <a:latin typeface="+mn-lt"/>
                <a:ea typeface="+mn-ea"/>
                <a:cs typeface="Arial" pitchFamily="34" charset="0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FFC000"/>
              </a:buClr>
              <a:buSzPct val="100000"/>
              <a:buNone/>
            </a:pPr>
            <a:r>
              <a:rPr lang="en-US" altLang="ja-JP" sz="1800" i="1" dirty="0">
                <a:solidFill>
                  <a:schemeClr val="tx1"/>
                </a:solidFill>
                <a:cs typeface="+mn-cs"/>
              </a:rPr>
              <a:t>Silicon Valley Offices</a:t>
            </a:r>
          </a:p>
        </p:txBody>
      </p:sp>
      <p:pic>
        <p:nvPicPr>
          <p:cNvPr id="17" name="Picture 16" descr="A picture containing drawing&#10;&#10;Description automatically generated">
            <a:extLst>
              <a:ext uri="{FF2B5EF4-FFF2-40B4-BE49-F238E27FC236}">
                <a16:creationId xmlns:a16="http://schemas.microsoft.com/office/drawing/2014/main" id="{B5F42A8D-BE9C-482E-AC39-F6D825AC8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1DC2285-D23C-451A-835E-2E0839B57187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22B709-3B00-44F5-848D-19AC26837EC5}"/>
              </a:ext>
            </a:extLst>
          </p:cNvPr>
          <p:cNvSpPr/>
          <p:nvPr/>
        </p:nvSpPr>
        <p:spPr>
          <a:xfrm>
            <a:off x="7567863" y="1301663"/>
            <a:ext cx="4306676" cy="554921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274638" lvl="1" algn="ctr">
              <a:spcAft>
                <a:spcPts val="600"/>
              </a:spcAft>
              <a:buClr>
                <a:srgbClr val="FFFFFF"/>
              </a:buClr>
              <a:buSzPct val="100000"/>
              <a:defRPr/>
            </a:pPr>
            <a:r>
              <a:rPr lang="en-US" altLang="ja-JP" b="1" i="1" dirty="0">
                <a:solidFill>
                  <a:schemeClr val="accent5"/>
                </a:solidFill>
                <a:latin typeface="Tw Cen MT" panose="020B0602020104020603" pitchFamily="34" charset="0"/>
                <a:ea typeface="ＭＳ Ｐゴシック" charset="-128"/>
                <a:cs typeface="Times New Roman" pitchFamily="18" charset="0"/>
              </a:rPr>
              <a:t>Legal Representation</a:t>
            </a:r>
          </a:p>
          <a:p>
            <a:pPr marL="274638" lvl="1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b="1" i="1" dirty="0">
                <a:latin typeface="Tw Cen MT" panose="020B0602020104020603" pitchFamily="34" charset="0"/>
                <a:ea typeface="ＭＳ Ｐゴシック" charset="-128"/>
                <a:cs typeface="Times New Roman" pitchFamily="18" charset="0"/>
              </a:rPr>
              <a:t>United States</a:t>
            </a:r>
            <a:endParaRPr lang="en-US" altLang="en-US" dirty="0">
              <a:latin typeface="Tw Cen MT" panose="020B0602020104020603" pitchFamily="34" charset="0"/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Crone Law Group</a:t>
            </a: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9665 Wilshire Blvd., Suite 895, </a:t>
            </a: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Beverly Hills, CA 90212</a:t>
            </a: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500 Fifth Avenue, Suite 938, New York, NY 10110</a:t>
            </a: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NYC Office: 646.861.7891  CA Office: 818.930.5686</a:t>
            </a: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www.cronelawgroup.com</a:t>
            </a:r>
          </a:p>
          <a:p>
            <a:pPr marL="274638" lvl="1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endParaRPr lang="en-US" altLang="ja-JP" b="1" i="1" dirty="0">
              <a:latin typeface="Tw Cen MT" panose="020B0602020104020603" pitchFamily="34" charset="0"/>
              <a:ea typeface="ＭＳ Ｐゴシック" charset="-128"/>
              <a:cs typeface="Times New Roman" pitchFamily="18" charset="0"/>
            </a:endParaRPr>
          </a:p>
          <a:p>
            <a:pPr marL="274638" lvl="1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b="1" i="1" dirty="0">
                <a:latin typeface="Tw Cen MT" panose="020B0602020104020603" pitchFamily="34" charset="0"/>
                <a:ea typeface="ＭＳ Ｐゴシック" charset="-128"/>
                <a:cs typeface="Times New Roman" pitchFamily="18" charset="0"/>
              </a:rPr>
              <a:t>Columbia</a:t>
            </a:r>
            <a:endParaRPr lang="en-US" altLang="en-US" dirty="0">
              <a:latin typeface="Tw Cen MT" panose="020B0602020104020603" pitchFamily="34" charset="0"/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s-CO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CONSULTORIA EMPRESARIAL </a:t>
            </a:r>
            <a:endParaRPr lang="en-US" sz="1400" dirty="0">
              <a:solidFill>
                <a:srgbClr val="FFFFFF"/>
              </a:solidFill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s-CO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SUÀREZ Y ASSOCIADOS S.A.S</a:t>
            </a:r>
            <a:endParaRPr lang="en-US" sz="1400" dirty="0">
              <a:solidFill>
                <a:srgbClr val="FFFFFF"/>
              </a:solidFill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s-CO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Carrera 11D No.118A-44, Bogotá, Colombia</a:t>
            </a:r>
            <a:endParaRPr lang="en-US" sz="1400" dirty="0">
              <a:solidFill>
                <a:srgbClr val="FFFFFF"/>
              </a:solidFill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s-CO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Teléfonos: (57) 1 637 3436 / 47 / 58 </a:t>
            </a:r>
            <a:endParaRPr lang="en-US" sz="1400" dirty="0">
              <a:solidFill>
                <a:srgbClr val="FFFFFF"/>
              </a:solidFill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s-CO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comunicationes@suarezconsultoria.com</a:t>
            </a:r>
            <a:endParaRPr lang="en-US" sz="1400" dirty="0">
              <a:solidFill>
                <a:srgbClr val="FFFFFF"/>
              </a:solidFill>
              <a:ea typeface="ＭＳ Ｐゴシック" charset="-128"/>
              <a:cs typeface="Times New Roman" pitchFamily="18" charset="0"/>
            </a:endParaRPr>
          </a:p>
          <a:p>
            <a:pPr marL="547688" lvl="1" indent="-273050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s-CO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www.suarezconsultoria.com</a:t>
            </a:r>
            <a:endParaRPr lang="en-US" sz="1400" dirty="0">
              <a:solidFill>
                <a:srgbClr val="FFFFFF"/>
              </a:solidFill>
              <a:ea typeface="ＭＳ Ｐゴシック" charset="-128"/>
              <a:cs typeface="Times New Roman" pitchFamily="18" charset="0"/>
            </a:endParaRPr>
          </a:p>
          <a:p>
            <a:pPr marL="274638" lvl="1" algn="ctr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defRPr/>
            </a:pPr>
            <a:r>
              <a:rPr lang="en-US" altLang="ja-JP" sz="1400" dirty="0">
                <a:solidFill>
                  <a:srgbClr val="FFFFFF"/>
                </a:solidFill>
                <a:ea typeface="ＭＳ Ｐゴシック" charset="-128"/>
                <a:cs typeface="Times New Roman" pitchFamily="18" charset="0"/>
              </a:rPr>
              <a:t> </a:t>
            </a:r>
          </a:p>
          <a:p>
            <a:pPr marL="274638" lvl="1" indent="0" algn="ctr" eaLnBrk="1" hangingPunct="1">
              <a:lnSpc>
                <a:spcPct val="90000"/>
              </a:lnSpc>
              <a:spcBef>
                <a:spcPts val="600"/>
              </a:spcBef>
              <a:buClr>
                <a:srgbClr val="FFFFFF"/>
              </a:buClr>
              <a:buSzPct val="100000"/>
              <a:buNone/>
              <a:defRPr/>
            </a:pPr>
            <a:endParaRPr lang="en-US" dirty="0"/>
          </a:p>
          <a:p>
            <a:pPr marL="0" lvl="1" indent="0" algn="ctr" eaLnBrk="1" hangingPunct="1">
              <a:spcBef>
                <a:spcPct val="0"/>
              </a:spcBef>
              <a:buSzTx/>
              <a:buNone/>
            </a:pPr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5D2C424-61C0-4275-AB9A-FE8BF92DC92F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19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192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6BE34-30B9-4E6C-BFEA-AE9207C5640C}"/>
              </a:ext>
            </a:extLst>
          </p:cNvPr>
          <p:cNvSpPr/>
          <p:nvPr/>
        </p:nvSpPr>
        <p:spPr>
          <a:xfrm>
            <a:off x="288699" y="2138654"/>
            <a:ext cx="3876858" cy="1361911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Features: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Single Camera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250-person database capacity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Image recalls up to four days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365361" y="1315206"/>
            <a:ext cx="40469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 LITE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6F549D6-5017-470D-8375-F0011A80D1EC}"/>
              </a:ext>
            </a:extLst>
          </p:cNvPr>
          <p:cNvSpPr txBox="1">
            <a:spLocks/>
          </p:cNvSpPr>
          <p:nvPr/>
        </p:nvSpPr>
        <p:spPr>
          <a:xfrm>
            <a:off x="4209431" y="270848"/>
            <a:ext cx="7137838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2024 Product Specifications </a:t>
            </a:r>
            <a:endParaRPr lang="en-US" sz="2800" b="1" i="1" cap="none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B99703-9A55-4042-B945-EA478A8D84EE}"/>
              </a:ext>
            </a:extLst>
          </p:cNvPr>
          <p:cNvGraphicFramePr>
            <a:graphicFrameLocks noGrp="1"/>
          </p:cNvGraphicFramePr>
          <p:nvPr/>
        </p:nvGraphicFramePr>
        <p:xfrm>
          <a:off x="3809477" y="3587765"/>
          <a:ext cx="3876858" cy="2291715"/>
        </p:xfrm>
        <a:graphic>
          <a:graphicData uri="http://schemas.openxmlformats.org/drawingml/2006/table">
            <a:tbl>
              <a:tblPr/>
              <a:tblGrid>
                <a:gridCol w="1093449">
                  <a:extLst>
                    <a:ext uri="{9D8B030D-6E8A-4147-A177-3AD203B41FA5}">
                      <a16:colId xmlns:a16="http://schemas.microsoft.com/office/drawing/2014/main" val="1449323732"/>
                    </a:ext>
                  </a:extLst>
                </a:gridCol>
                <a:gridCol w="2783409">
                  <a:extLst>
                    <a:ext uri="{9D8B030D-6E8A-4147-A177-3AD203B41FA5}">
                      <a16:colId xmlns:a16="http://schemas.microsoft.com/office/drawing/2014/main" val="985733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Hardware Specifications: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778725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Processor: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11th Gen Intel® Core™ i3-1115G4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106942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Ram: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 GB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554907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1920 x 1280 Resolution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664305"/>
                  </a:ext>
                </a:extLst>
              </a:tr>
              <a:tr h="230383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Hard Disk: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128 GB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937964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Camera:</a:t>
                      </a:r>
                    </a:p>
                    <a:p>
                      <a:pPr algn="r" fontAlgn="b">
                        <a:spcAft>
                          <a:spcPts val="1200"/>
                        </a:spcAft>
                      </a:pP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640x480, 2.8/10mm lens </a:t>
                      </a:r>
                    </a:p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 area 3-12 feet from camera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32993"/>
                  </a:ext>
                </a:extLst>
              </a:tr>
              <a:tr h="23675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Accessories:</a:t>
                      </a:r>
                    </a:p>
                    <a:p>
                      <a:pPr algn="r" fontAlgn="b"/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LAN CAT 6</a:t>
                      </a:r>
                    </a:p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Power over Ethernet (POE)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905477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CEA7A276-F046-4203-BA0A-ED66FF6A2E5F}"/>
              </a:ext>
            </a:extLst>
          </p:cNvPr>
          <p:cNvSpPr/>
          <p:nvPr/>
        </p:nvSpPr>
        <p:spPr>
          <a:xfrm>
            <a:off x="4241541" y="1381373"/>
            <a:ext cx="7695935" cy="40011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FFC000"/>
              </a:buClr>
            </a:pPr>
            <a:r>
              <a:rPr lang="en-US" sz="1600" dirty="0"/>
              <a:t>Single-camera rapid deployment facial recognition for small venues</a:t>
            </a:r>
            <a:r>
              <a:rPr lang="en-US" sz="2000" dirty="0"/>
              <a:t>.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3B071BE-5A5A-4EEA-B7A2-7CF0E348FFC4}"/>
              </a:ext>
            </a:extLst>
          </p:cNvPr>
          <p:cNvGraphicFramePr>
            <a:graphicFrameLocks noGrp="1"/>
          </p:cNvGraphicFramePr>
          <p:nvPr/>
        </p:nvGraphicFramePr>
        <p:xfrm>
          <a:off x="364035" y="4072784"/>
          <a:ext cx="3112590" cy="1346299"/>
        </p:xfrm>
        <a:graphic>
          <a:graphicData uri="http://schemas.openxmlformats.org/drawingml/2006/table">
            <a:tbl>
              <a:tblPr/>
              <a:tblGrid>
                <a:gridCol w="3112590">
                  <a:extLst>
                    <a:ext uri="{9D8B030D-6E8A-4147-A177-3AD203B41FA5}">
                      <a16:colId xmlns:a16="http://schemas.microsoft.com/office/drawing/2014/main" val="1449323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Image Requirements: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78725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Image Resolution= greater than 60 pixels between the eyes (204 pixels/ft.)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8106942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r>
                        <a:rPr lang="en-US" sz="1300" dirty="0"/>
                        <a:t>Camera Angle= 10° or less above eye-level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300" dirty="0"/>
                        <a:t>40° or less side view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9554907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Camera must accept snapshot string command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5664305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5FC39FF-46A9-400D-9D48-D7700A7CB074}"/>
              </a:ext>
            </a:extLst>
          </p:cNvPr>
          <p:cNvGraphicFramePr>
            <a:graphicFrameLocks noGrp="1"/>
          </p:cNvGraphicFramePr>
          <p:nvPr/>
        </p:nvGraphicFramePr>
        <p:xfrm>
          <a:off x="8785685" y="3638550"/>
          <a:ext cx="2840528" cy="2093284"/>
        </p:xfrm>
        <a:graphic>
          <a:graphicData uri="http://schemas.openxmlformats.org/drawingml/2006/table">
            <a:tbl>
              <a:tblPr/>
              <a:tblGrid>
                <a:gridCol w="2840528">
                  <a:extLst>
                    <a:ext uri="{9D8B030D-6E8A-4147-A177-3AD203B41FA5}">
                      <a16:colId xmlns:a16="http://schemas.microsoft.com/office/drawing/2014/main" val="1626818475"/>
                    </a:ext>
                  </a:extLst>
                </a:gridCol>
              </a:tblGrid>
              <a:tr h="1350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Notes: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792591"/>
                  </a:ext>
                </a:extLst>
              </a:tr>
              <a:tr h="135018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1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Note 1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990815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(1) Includes software updates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339366"/>
                  </a:ext>
                </a:extLst>
              </a:tr>
              <a:tr h="212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(2) Virtual EclipseIR yearly conference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55351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(3) 96 hour email tech support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20093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(4) Yearly hardware warranty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260922"/>
                  </a:ext>
                </a:extLst>
              </a:tr>
              <a:tr h="140888">
                <a:tc>
                  <a:txBody>
                    <a:bodyPr/>
                    <a:lstStyle/>
                    <a:p>
                      <a:pPr marL="0" algn="l" defTabSz="457200" rtl="0" eaLnBrk="1" fontAlgn="b" latinLnBrk="0" hangingPunct="1">
                        <a:spcAft>
                          <a:spcPts val="1200"/>
                        </a:spcAft>
                      </a:pPr>
                      <a:endParaRPr lang="en-US" sz="1100" b="1" i="1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209303"/>
                  </a:ext>
                </a:extLst>
              </a:tr>
              <a:tr h="140888">
                <a:tc>
                  <a:txBody>
                    <a:bodyPr/>
                    <a:lstStyle/>
                    <a:p>
                      <a:pPr marL="0" algn="l" defTabSz="457200" rtl="0" eaLnBrk="1" fontAlgn="b" latinLnBrk="0" hangingPunct="1">
                        <a:spcAft>
                          <a:spcPts val="1200"/>
                        </a:spcAft>
                      </a:pPr>
                      <a:r>
                        <a:rPr lang="en-US" sz="11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Note 2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2505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(1) Includes software updates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614185"/>
                  </a:ext>
                </a:extLst>
              </a:tr>
              <a:tr h="212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(2) Virtual EclipseIR yearly conference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04789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(3) 96 hour email tech support(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97398"/>
                  </a:ext>
                </a:extLst>
              </a:tr>
            </a:tbl>
          </a:graphicData>
        </a:graphic>
      </p:graphicFrame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47051897-6417-481A-8BB5-D39C14E0E498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20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4109A-9FFC-E273-5BC5-B36B47FA6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213" y="2149189"/>
            <a:ext cx="2094898" cy="1145167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572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  <a:p>
            <a:pPr algn="ct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253035" y="1294504"/>
            <a:ext cx="38427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 6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01573B-A935-4CDC-A704-3DB428135627}"/>
              </a:ext>
            </a:extLst>
          </p:cNvPr>
          <p:cNvSpPr/>
          <p:nvPr/>
        </p:nvSpPr>
        <p:spPr>
          <a:xfrm>
            <a:off x="288700" y="1936505"/>
            <a:ext cx="3520778" cy="1361911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Features: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Six simultaneous cameras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10,000-person database capacity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Image </a:t>
            </a:r>
            <a:r>
              <a:rPr lang="en-US"/>
              <a:t>Recalls up to 2 </a:t>
            </a:r>
            <a:r>
              <a:rPr lang="en-US" dirty="0"/>
              <a:t>weeks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43E20A3-2D57-49CD-955B-0F127D82E722}"/>
              </a:ext>
            </a:extLst>
          </p:cNvPr>
          <p:cNvSpPr txBox="1">
            <a:spLocks/>
          </p:cNvSpPr>
          <p:nvPr/>
        </p:nvSpPr>
        <p:spPr>
          <a:xfrm>
            <a:off x="4209431" y="270848"/>
            <a:ext cx="7137838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2024 Product Specifications</a:t>
            </a:r>
            <a:endParaRPr lang="en-US" sz="2800" b="1" i="1" cap="none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580B45-7062-4FFD-89C0-1516DFC85C29}"/>
              </a:ext>
            </a:extLst>
          </p:cNvPr>
          <p:cNvSpPr/>
          <p:nvPr/>
        </p:nvSpPr>
        <p:spPr>
          <a:xfrm>
            <a:off x="4241541" y="1428587"/>
            <a:ext cx="6275665" cy="338554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FFC000"/>
              </a:buClr>
            </a:pPr>
            <a:r>
              <a:rPr lang="en-US" sz="1600" dirty="0"/>
              <a:t>Multiple- camera for mid-size Corporate and commercial venues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23053C9-B16A-43E9-8FA8-6675D349D5E1}"/>
              </a:ext>
            </a:extLst>
          </p:cNvPr>
          <p:cNvGraphicFramePr>
            <a:graphicFrameLocks noGrp="1"/>
          </p:cNvGraphicFramePr>
          <p:nvPr/>
        </p:nvGraphicFramePr>
        <p:xfrm>
          <a:off x="4209431" y="3584078"/>
          <a:ext cx="3876858" cy="2291715"/>
        </p:xfrm>
        <a:graphic>
          <a:graphicData uri="http://schemas.openxmlformats.org/drawingml/2006/table">
            <a:tbl>
              <a:tblPr/>
              <a:tblGrid>
                <a:gridCol w="1093449">
                  <a:extLst>
                    <a:ext uri="{9D8B030D-6E8A-4147-A177-3AD203B41FA5}">
                      <a16:colId xmlns:a16="http://schemas.microsoft.com/office/drawing/2014/main" val="1449323732"/>
                    </a:ext>
                  </a:extLst>
                </a:gridCol>
                <a:gridCol w="2783409">
                  <a:extLst>
                    <a:ext uri="{9D8B030D-6E8A-4147-A177-3AD203B41FA5}">
                      <a16:colId xmlns:a16="http://schemas.microsoft.com/office/drawing/2014/main" val="985733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Hardware Specifications: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778725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Processor: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Intel® Core™ i7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106942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Ram: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GB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554907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1920 x 1280 Resolution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664305"/>
                  </a:ext>
                </a:extLst>
              </a:tr>
              <a:tr h="230383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Hard Disk: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TB, SSD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937964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Camera:</a:t>
                      </a:r>
                    </a:p>
                    <a:p>
                      <a:pPr algn="r" fontAlgn="b">
                        <a:spcAft>
                          <a:spcPts val="1200"/>
                        </a:spcAft>
                      </a:pP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1280x720, 3.0/12mm lens </a:t>
                      </a:r>
                    </a:p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 area 3-14 feet from camera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32993"/>
                  </a:ext>
                </a:extLst>
              </a:tr>
              <a:tr h="23675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Accessories:</a:t>
                      </a:r>
                    </a:p>
                    <a:p>
                      <a:pPr algn="r" fontAlgn="b"/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LAN CAT 6</a:t>
                      </a:r>
                    </a:p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Power over Ethernet (POE)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905477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59D4DC4-B87B-4A95-AD53-7785C0EA2F0E}"/>
              </a:ext>
            </a:extLst>
          </p:cNvPr>
          <p:cNvGraphicFramePr>
            <a:graphicFrameLocks noGrp="1"/>
          </p:cNvGraphicFramePr>
          <p:nvPr/>
        </p:nvGraphicFramePr>
        <p:xfrm>
          <a:off x="364035" y="4072784"/>
          <a:ext cx="3112590" cy="1346299"/>
        </p:xfrm>
        <a:graphic>
          <a:graphicData uri="http://schemas.openxmlformats.org/drawingml/2006/table">
            <a:tbl>
              <a:tblPr/>
              <a:tblGrid>
                <a:gridCol w="3112590">
                  <a:extLst>
                    <a:ext uri="{9D8B030D-6E8A-4147-A177-3AD203B41FA5}">
                      <a16:colId xmlns:a16="http://schemas.microsoft.com/office/drawing/2014/main" val="1449323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Image Requirements: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78725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Image Resolution= greater than 60 pixels between the eyes (204 pixels/ft.)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8106942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r>
                        <a:rPr lang="en-US" sz="1300" dirty="0"/>
                        <a:t>Camera Angle= 10° or less above eye-level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300" dirty="0"/>
                        <a:t>40° or less side view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9554907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Camera must accept snapshot string command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5664305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A76EE99-2C63-435A-A4AE-6BDF43965861}"/>
              </a:ext>
            </a:extLst>
          </p:cNvPr>
          <p:cNvGraphicFramePr>
            <a:graphicFrameLocks noGrp="1"/>
          </p:cNvGraphicFramePr>
          <p:nvPr/>
        </p:nvGraphicFramePr>
        <p:xfrm>
          <a:off x="8986111" y="3595608"/>
          <a:ext cx="2548664" cy="2093284"/>
        </p:xfrm>
        <a:graphic>
          <a:graphicData uri="http://schemas.openxmlformats.org/drawingml/2006/table">
            <a:tbl>
              <a:tblPr/>
              <a:tblGrid>
                <a:gridCol w="2548664">
                  <a:extLst>
                    <a:ext uri="{9D8B030D-6E8A-4147-A177-3AD203B41FA5}">
                      <a16:colId xmlns:a16="http://schemas.microsoft.com/office/drawing/2014/main" val="1626818475"/>
                    </a:ext>
                  </a:extLst>
                </a:gridCol>
              </a:tblGrid>
              <a:tr h="1350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Notes: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792591"/>
                  </a:ext>
                </a:extLst>
              </a:tr>
              <a:tr h="135018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1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Note 1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990815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(1) Includes software updates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339366"/>
                  </a:ext>
                </a:extLst>
              </a:tr>
              <a:tr h="212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(2) Virtual EclipseIR yearly conference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55351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(3) 96 hour email tech support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20093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(4) Yearly hardware warranty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260922"/>
                  </a:ext>
                </a:extLst>
              </a:tr>
              <a:tr h="140888">
                <a:tc>
                  <a:txBody>
                    <a:bodyPr/>
                    <a:lstStyle/>
                    <a:p>
                      <a:pPr marL="0" algn="l" defTabSz="457200" rtl="0" eaLnBrk="1" fontAlgn="b" latinLnBrk="0" hangingPunct="1">
                        <a:spcAft>
                          <a:spcPts val="1200"/>
                        </a:spcAft>
                      </a:pPr>
                      <a:endParaRPr lang="en-US" sz="1100" b="1" i="1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209303"/>
                  </a:ext>
                </a:extLst>
              </a:tr>
              <a:tr h="140888">
                <a:tc>
                  <a:txBody>
                    <a:bodyPr/>
                    <a:lstStyle/>
                    <a:p>
                      <a:pPr marL="0" algn="l" defTabSz="457200" rtl="0" eaLnBrk="1" fontAlgn="b" latinLnBrk="0" hangingPunct="1">
                        <a:spcAft>
                          <a:spcPts val="1200"/>
                        </a:spcAft>
                      </a:pPr>
                      <a:r>
                        <a:rPr lang="en-US" sz="11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Note 2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2505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(1) Includes software updates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614185"/>
                  </a:ext>
                </a:extLst>
              </a:tr>
              <a:tr h="212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(2) Virtual EclipseIR yearly conference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04789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(3) 96 hour email tech support(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97398"/>
                  </a:ext>
                </a:extLst>
              </a:tr>
            </a:tbl>
          </a:graphicData>
        </a:graphic>
      </p:graphicFrame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63E24ADD-5295-496C-9811-F34D91868BF8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21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80774-24E8-6B90-ED68-6694CF421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860" y="1989086"/>
            <a:ext cx="2270887" cy="1275371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017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246836" y="1274044"/>
            <a:ext cx="5681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Match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 Commander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828E4-B124-4439-B57A-CE536D3EBC0C}"/>
              </a:ext>
            </a:extLst>
          </p:cNvPr>
          <p:cNvSpPr/>
          <p:nvPr/>
        </p:nvSpPr>
        <p:spPr>
          <a:xfrm>
            <a:off x="250599" y="1888880"/>
            <a:ext cx="3768951" cy="2023631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b="1" i="1" dirty="0">
                <a:solidFill>
                  <a:srgbClr val="FFCC00"/>
                </a:solidFill>
              </a:rPr>
              <a:t>Key Features: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Six simultaneous cameras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100,000-person database capacity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Image recall up to 4 weeks</a:t>
            </a:r>
          </a:p>
          <a:p>
            <a:pPr marL="342900" indent="-34290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Advanced notifications and communications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28E59AD0-6831-4EB9-AB59-6C92D194D4F0}"/>
              </a:ext>
            </a:extLst>
          </p:cNvPr>
          <p:cNvSpPr txBox="1">
            <a:spLocks/>
          </p:cNvSpPr>
          <p:nvPr/>
        </p:nvSpPr>
        <p:spPr>
          <a:xfrm>
            <a:off x="4209431" y="270848"/>
            <a:ext cx="7137838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2024 Product Specifications </a:t>
            </a:r>
            <a:endParaRPr lang="en-US" sz="2800" b="1" i="1" cap="none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2BBB06-B400-4A5F-A395-226469944AAE}"/>
              </a:ext>
            </a:extLst>
          </p:cNvPr>
          <p:cNvSpPr/>
          <p:nvPr/>
        </p:nvSpPr>
        <p:spPr>
          <a:xfrm>
            <a:off x="5880252" y="1426433"/>
            <a:ext cx="5681042" cy="338554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FFC000"/>
              </a:buClr>
            </a:pPr>
            <a:r>
              <a:rPr lang="en-US" sz="1600" dirty="0"/>
              <a:t>Multiple-camera with enhanced communications and alerts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2945FAF-9726-4C56-AAD8-9FFA976B01A2}"/>
              </a:ext>
            </a:extLst>
          </p:cNvPr>
          <p:cNvGraphicFramePr>
            <a:graphicFrameLocks noGrp="1"/>
          </p:cNvGraphicFramePr>
          <p:nvPr/>
        </p:nvGraphicFramePr>
        <p:xfrm>
          <a:off x="8785685" y="3429000"/>
          <a:ext cx="2840528" cy="2093284"/>
        </p:xfrm>
        <a:graphic>
          <a:graphicData uri="http://schemas.openxmlformats.org/drawingml/2006/table">
            <a:tbl>
              <a:tblPr/>
              <a:tblGrid>
                <a:gridCol w="2840528">
                  <a:extLst>
                    <a:ext uri="{9D8B030D-6E8A-4147-A177-3AD203B41FA5}">
                      <a16:colId xmlns:a16="http://schemas.microsoft.com/office/drawing/2014/main" val="1626818475"/>
                    </a:ext>
                  </a:extLst>
                </a:gridCol>
              </a:tblGrid>
              <a:tr h="1350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Notes: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792591"/>
                  </a:ext>
                </a:extLst>
              </a:tr>
              <a:tr h="135018"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US" sz="11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Note 1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990815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(1) Includes software updates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339366"/>
                  </a:ext>
                </a:extLst>
              </a:tr>
              <a:tr h="212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(2) Virtual EclipseIR yearly conference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55351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(3) 96 hour email tech support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20093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(4) Yearly hardware warranty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260922"/>
                  </a:ext>
                </a:extLst>
              </a:tr>
              <a:tr h="140888">
                <a:tc>
                  <a:txBody>
                    <a:bodyPr/>
                    <a:lstStyle/>
                    <a:p>
                      <a:pPr marL="0" algn="l" defTabSz="457200" rtl="0" eaLnBrk="1" fontAlgn="b" latinLnBrk="0" hangingPunct="1">
                        <a:spcAft>
                          <a:spcPts val="1200"/>
                        </a:spcAft>
                      </a:pPr>
                      <a:endParaRPr lang="en-US" sz="1100" b="1" i="1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209303"/>
                  </a:ext>
                </a:extLst>
              </a:tr>
              <a:tr h="140888">
                <a:tc>
                  <a:txBody>
                    <a:bodyPr/>
                    <a:lstStyle/>
                    <a:p>
                      <a:pPr marL="0" algn="l" defTabSz="457200" rtl="0" eaLnBrk="1" fontAlgn="b" latinLnBrk="0" hangingPunct="1">
                        <a:spcAft>
                          <a:spcPts val="1200"/>
                        </a:spcAft>
                      </a:pPr>
                      <a:r>
                        <a:rPr lang="en-US" sz="11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Note 2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2505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(1) Includes software updates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614185"/>
                  </a:ext>
                </a:extLst>
              </a:tr>
              <a:tr h="212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(2) Virtual EclipseIR yearly conference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047897"/>
                  </a:ext>
                </a:extLst>
              </a:tr>
              <a:tr h="1174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(3) 96 hour email tech support(</a:t>
                      </a:r>
                    </a:p>
                  </a:txBody>
                  <a:tcPr marL="5870" marR="5870" marT="58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9739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FF5C861-0430-4261-9B28-D923FE2DBEFE}"/>
              </a:ext>
            </a:extLst>
          </p:cNvPr>
          <p:cNvGraphicFramePr>
            <a:graphicFrameLocks noGrp="1"/>
          </p:cNvGraphicFramePr>
          <p:nvPr/>
        </p:nvGraphicFramePr>
        <p:xfrm>
          <a:off x="364035" y="4072784"/>
          <a:ext cx="3112590" cy="1346299"/>
        </p:xfrm>
        <a:graphic>
          <a:graphicData uri="http://schemas.openxmlformats.org/drawingml/2006/table">
            <a:tbl>
              <a:tblPr/>
              <a:tblGrid>
                <a:gridCol w="3112590">
                  <a:extLst>
                    <a:ext uri="{9D8B030D-6E8A-4147-A177-3AD203B41FA5}">
                      <a16:colId xmlns:a16="http://schemas.microsoft.com/office/drawing/2014/main" val="1449323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Image Requirements: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4778725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Image Resolution= greater than 60 pixels between the eyes (204 pixels/ft.)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8106942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r>
                        <a:rPr lang="en-US" sz="1300" dirty="0"/>
                        <a:t>Camera Angle= 10° or less above eye-level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300" dirty="0"/>
                        <a:t>40° or less side view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9554907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Camera must accept snapshot string command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566430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05D736A-D6CD-4DD3-B211-A0C706A6893C}"/>
              </a:ext>
            </a:extLst>
          </p:cNvPr>
          <p:cNvGraphicFramePr>
            <a:graphicFrameLocks noGrp="1"/>
          </p:cNvGraphicFramePr>
          <p:nvPr/>
        </p:nvGraphicFramePr>
        <p:xfrm>
          <a:off x="4209431" y="3584078"/>
          <a:ext cx="3876858" cy="2291715"/>
        </p:xfrm>
        <a:graphic>
          <a:graphicData uri="http://schemas.openxmlformats.org/drawingml/2006/table">
            <a:tbl>
              <a:tblPr/>
              <a:tblGrid>
                <a:gridCol w="1093449">
                  <a:extLst>
                    <a:ext uri="{9D8B030D-6E8A-4147-A177-3AD203B41FA5}">
                      <a16:colId xmlns:a16="http://schemas.microsoft.com/office/drawing/2014/main" val="1449323732"/>
                    </a:ext>
                  </a:extLst>
                </a:gridCol>
                <a:gridCol w="2783409">
                  <a:extLst>
                    <a:ext uri="{9D8B030D-6E8A-4147-A177-3AD203B41FA5}">
                      <a16:colId xmlns:a16="http://schemas.microsoft.com/office/drawing/2014/main" val="985733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1" kern="1200" dirty="0">
                          <a:solidFill>
                            <a:srgbClr val="FFCC00"/>
                          </a:solidFill>
                          <a:latin typeface="+mn-lt"/>
                          <a:ea typeface="+mn-ea"/>
                          <a:cs typeface="+mn-cs"/>
                        </a:rPr>
                        <a:t>Hardware Specifications: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778725"/>
                  </a:ext>
                </a:extLst>
              </a:tr>
              <a:tr h="138081"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Processor: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Intel® Core™ i7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106942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Ram: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GB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554907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Display: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1920 x 1280 Resolution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664305"/>
                  </a:ext>
                </a:extLst>
              </a:tr>
              <a:tr h="230383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Hard Disk: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TB, SSD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937964"/>
                  </a:ext>
                </a:extLst>
              </a:tr>
              <a:tr h="250924">
                <a:tc>
                  <a:txBody>
                    <a:bodyPr/>
                    <a:lstStyle/>
                    <a:p>
                      <a:pPr algn="r" fontAlgn="b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Camera:</a:t>
                      </a:r>
                    </a:p>
                    <a:p>
                      <a:pPr algn="r" fontAlgn="b">
                        <a:spcAft>
                          <a:spcPts val="1200"/>
                        </a:spcAft>
                      </a:pP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1280x720, 3.0/12mm lens </a:t>
                      </a:r>
                    </a:p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 area 3-14 feet from camera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32993"/>
                  </a:ext>
                </a:extLst>
              </a:tr>
              <a:tr h="236756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Accessories:</a:t>
                      </a:r>
                    </a:p>
                    <a:p>
                      <a:pPr algn="r" fontAlgn="b"/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LAN CAT 6</a:t>
                      </a:r>
                    </a:p>
                    <a:p>
                      <a:pPr algn="l" fontAlgn="b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Power over Ethernet (POE)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905477"/>
                  </a:ext>
                </a:extLst>
              </a:tr>
            </a:tbl>
          </a:graphicData>
        </a:graphic>
      </p:graphicFrame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6BC3B88F-764C-4703-858B-573E7668DB0C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22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5E1763-4E0C-AB16-4705-2F1BFECCE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317" y="2150154"/>
            <a:ext cx="1489125" cy="814024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330200" dist="114300" dir="8100000" sx="101000" sy="101000" algn="tr" rotWithShape="0">
              <a:prstClr val="black">
                <a:alpha val="78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18107-B4BE-85DC-BFD8-21B066FA0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95" y="2267520"/>
            <a:ext cx="1493657" cy="4483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37249B-7988-C69C-53FC-ACB398858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4156488"/>
            <a:ext cx="1493657" cy="350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47FAB3-74C5-EAB9-5D20-81C47F151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1945" y="4255001"/>
            <a:ext cx="946198" cy="311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43A0D-ECD2-C086-78D7-4A923EC1B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186" y="4370208"/>
            <a:ext cx="108912" cy="11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0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5A8388C-19CD-4716-ACF3-2C51D67C8C43}"/>
              </a:ext>
            </a:extLst>
          </p:cNvPr>
          <p:cNvSpPr txBox="1">
            <a:spLocks/>
          </p:cNvSpPr>
          <p:nvPr/>
        </p:nvSpPr>
        <p:spPr>
          <a:xfrm>
            <a:off x="4165557" y="326346"/>
            <a:ext cx="7661082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i="1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281D2-2F89-4C28-91C9-A4CDF99676AA}"/>
              </a:ext>
            </a:extLst>
          </p:cNvPr>
          <p:cNvSpPr/>
          <p:nvPr/>
        </p:nvSpPr>
        <p:spPr>
          <a:xfrm>
            <a:off x="12938" y="6495062"/>
            <a:ext cx="12192000" cy="3629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1536A-9AF9-4DEF-97E2-7B0F63BD6537}"/>
              </a:ext>
            </a:extLst>
          </p:cNvPr>
          <p:cNvSpPr txBox="1"/>
          <p:nvPr/>
        </p:nvSpPr>
        <p:spPr>
          <a:xfrm>
            <a:off x="-150459" y="6514940"/>
            <a:ext cx="4392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Eclipse Identity Recognition Corporation © 2025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0ECDE-8174-4D65-BF9D-5DF5E2394539}"/>
              </a:ext>
            </a:extLst>
          </p:cNvPr>
          <p:cNvSpPr txBox="1"/>
          <p:nvPr/>
        </p:nvSpPr>
        <p:spPr>
          <a:xfrm>
            <a:off x="8986111" y="6543767"/>
            <a:ext cx="2951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Confidential &amp; Proprietary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A8B84F3-1AD0-4922-ACF7-EA4844391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5" y="222882"/>
            <a:ext cx="2536722" cy="7835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3CBF6D-D17F-4222-8D2F-231849CB551D}"/>
              </a:ext>
            </a:extLst>
          </p:cNvPr>
          <p:cNvSpPr/>
          <p:nvPr/>
        </p:nvSpPr>
        <p:spPr>
          <a:xfrm>
            <a:off x="12938" y="1055152"/>
            <a:ext cx="12192000" cy="795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F02B46-D372-4530-B2A0-08B21AB16462}"/>
              </a:ext>
            </a:extLst>
          </p:cNvPr>
          <p:cNvSpPr/>
          <p:nvPr/>
        </p:nvSpPr>
        <p:spPr>
          <a:xfrm>
            <a:off x="398235" y="1399197"/>
            <a:ext cx="43920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C000"/>
              </a:buClr>
            </a:pPr>
            <a:r>
              <a:rPr lang="en-US" altLang="ja-JP" sz="3600" i="1" dirty="0">
                <a:solidFill>
                  <a:srgbClr val="FFC000"/>
                </a:solidFill>
                <a:latin typeface="Arial Black" pitchFamily="34" charset="0"/>
                <a:cs typeface="Times New Roman" pitchFamily="18" charset="0"/>
              </a:rPr>
              <a:t>Search</a:t>
            </a:r>
            <a:r>
              <a:rPr lang="en-US" altLang="ja-JP" sz="3600" i="1" dirty="0">
                <a:solidFill>
                  <a:srgbClr val="FFC000"/>
                </a:solidFill>
                <a:latin typeface="Arial" pitchFamily="34" charset="0"/>
              </a:rPr>
              <a:t>Point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C7A0A-A8D7-4EDA-B177-985403D8654F}"/>
              </a:ext>
            </a:extLst>
          </p:cNvPr>
          <p:cNvSpPr/>
          <p:nvPr/>
        </p:nvSpPr>
        <p:spPr>
          <a:xfrm>
            <a:off x="243035" y="2436107"/>
            <a:ext cx="4702401" cy="4085734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FFC000"/>
              </a:buClr>
            </a:pPr>
            <a:r>
              <a:rPr lang="en-US" sz="2000" dirty="0"/>
              <a:t>Database Management.</a:t>
            </a:r>
          </a:p>
          <a:p>
            <a:pPr>
              <a:spcAft>
                <a:spcPts val="300"/>
              </a:spcAft>
              <a:buClr>
                <a:srgbClr val="FFC000"/>
              </a:buClr>
            </a:pPr>
            <a:r>
              <a:rPr lang="en-US" sz="1600" b="1" i="1" dirty="0">
                <a:solidFill>
                  <a:srgbClr val="FFCC00"/>
                </a:solidFill>
              </a:rPr>
              <a:t>Key Features: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Database creation</a:t>
            </a:r>
          </a:p>
          <a:p>
            <a:pPr marL="1257300" lvl="2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Dynamic</a:t>
            </a:r>
          </a:p>
          <a:p>
            <a:pPr marL="1257300" lvl="2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Automatic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Database import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Database export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Database deletion</a:t>
            </a:r>
          </a:p>
          <a:p>
            <a:pPr marL="800100" lvl="1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spcAft>
                <a:spcPts val="600"/>
              </a:spcAft>
              <a:buClr>
                <a:srgbClr val="FFC000"/>
              </a:buClr>
            </a:pPr>
            <a:r>
              <a:rPr lang="en-US" dirty="0"/>
              <a:t>	</a:t>
            </a:r>
          </a:p>
          <a:p>
            <a:pPr marL="457200" lvl="2">
              <a:spcAft>
                <a:spcPts val="600"/>
              </a:spcAft>
              <a:buClr>
                <a:srgbClr val="FFC000"/>
              </a:buClr>
            </a:pPr>
            <a:endParaRPr lang="en-US" dirty="0"/>
          </a:p>
          <a:p>
            <a:pPr marL="800100" lvl="1" indent="-182880"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§"/>
            </a:pPr>
            <a:endParaRPr lang="en-US" i="1" dirty="0"/>
          </a:p>
          <a:p>
            <a:pPr>
              <a:spcAft>
                <a:spcPts val="1200"/>
              </a:spcAft>
              <a:buClr>
                <a:srgbClr val="FFC000"/>
              </a:buClr>
            </a:pP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0465D-B70C-4B07-B4EC-998559375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789" y="1498458"/>
            <a:ext cx="6624976" cy="3947759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406400" dist="63500" dir="12060000" sx="103000" sy="103000" algn="tr" rotWithShape="0">
              <a:prstClr val="black"/>
            </a:outerShdw>
          </a:effectLst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7181EF89-D1AC-4321-9EA5-0578DE21F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20A220-F436-4DCF-BF50-1780F46E6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299" y="1700818"/>
            <a:ext cx="2578779" cy="1934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4225B6-A89C-83A9-36B1-0206557B6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294" y="3115434"/>
            <a:ext cx="5501007" cy="2786854"/>
          </a:xfrm>
          <a:prstGeom prst="rect">
            <a:avLst/>
          </a:prstGeom>
        </p:spPr>
      </p:pic>
      <p:sp>
        <p:nvSpPr>
          <p:cNvPr id="19" name="Title 2">
            <a:extLst>
              <a:ext uri="{FF2B5EF4-FFF2-40B4-BE49-F238E27FC236}">
                <a16:creationId xmlns:a16="http://schemas.microsoft.com/office/drawing/2014/main" id="{F93AD1C2-9BE4-45BA-B80E-64BA858CA9FC}"/>
              </a:ext>
            </a:extLst>
          </p:cNvPr>
          <p:cNvSpPr txBox="1">
            <a:spLocks/>
          </p:cNvSpPr>
          <p:nvPr/>
        </p:nvSpPr>
        <p:spPr>
          <a:xfrm>
            <a:off x="3539303" y="270848"/>
            <a:ext cx="7369886" cy="99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Investigative</a:t>
            </a:r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en-US" sz="2800" b="1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7B4A9D3B-646B-4046-9746-51225FDA103D}"/>
              </a:ext>
            </a:extLst>
          </p:cNvPr>
          <p:cNvSpPr txBox="1">
            <a:spLocks/>
          </p:cNvSpPr>
          <p:nvPr/>
        </p:nvSpPr>
        <p:spPr>
          <a:xfrm>
            <a:off x="5841279" y="6478709"/>
            <a:ext cx="47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C27A5A-7290-4DE1-BA94-4BE8A8E57DCF}" type="slidenum">
              <a:rPr lang="en-US" sz="1400" smtClean="0">
                <a:solidFill>
                  <a:schemeClr val="tx1"/>
                </a:solidFill>
              </a:rPr>
              <a:pPr/>
              <a:t>23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70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Custom 1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72674</TotalTime>
  <Words>1590</Words>
  <Application>Microsoft Office PowerPoint</Application>
  <PresentationFormat>Widescreen</PresentationFormat>
  <Paragraphs>429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ＭＳ Ｐゴシック</vt:lpstr>
      <vt:lpstr>Arial</vt:lpstr>
      <vt:lpstr>Arial Black</vt:lpstr>
      <vt:lpstr>Browallia New</vt:lpstr>
      <vt:lpstr>Calibri</vt:lpstr>
      <vt:lpstr>Georgia</vt:lpstr>
      <vt:lpstr>Times New Roman</vt:lpstr>
      <vt:lpstr>Tw Cen MT</vt:lpstr>
      <vt:lpstr>Wingdings</vt:lpstr>
      <vt:lpstr>Mesh</vt:lpstr>
      <vt:lpstr>2025 Product Offerings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World-class Facial Recognition Technologies</vt:lpstr>
      <vt:lpstr>World-class Facial Recognition Technologies</vt:lpstr>
      <vt:lpstr>World-class Facial Recognition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Presentation</dc:title>
  <dc:creator>Maricris</dc:creator>
  <cp:lastModifiedBy>Stephen Miller</cp:lastModifiedBy>
  <cp:revision>724</cp:revision>
  <cp:lastPrinted>2023-06-09T20:52:03Z</cp:lastPrinted>
  <dcterms:created xsi:type="dcterms:W3CDTF">2019-11-20T23:02:40Z</dcterms:created>
  <dcterms:modified xsi:type="dcterms:W3CDTF">2025-09-20T04:49:45Z</dcterms:modified>
</cp:coreProperties>
</file>